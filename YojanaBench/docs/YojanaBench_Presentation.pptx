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29.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4610100" cy="3460750"/>
  <p:notesSz cx="4610100" cy="346075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07" d="100"/>
          <a:sy n="207" d="100"/>
        </p:scale>
        <p:origin x="1932" y="150"/>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E561C9C0-3BAB-4C58-B7E8-991B8597EB5D}" type="datetimeFigureOut">
              <a:rPr lang="en-IN" smtClean="0"/>
              <a:t>08-10-2026</a:t>
            </a:fld>
            <a:endParaRPr lang="en-IN"/>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3F28A716-B9D7-4E47-9DD2-FED886E51C21}" type="slidenum">
              <a:rPr lang="en-IN" smtClean="0"/>
              <a:t>‹#›</a:t>
            </a:fld>
            <a:endParaRPr lang="en-IN"/>
          </a:p>
        </p:txBody>
      </p:sp>
    </p:spTree>
    <p:extLst>
      <p:ext uri="{BB962C8B-B14F-4D97-AF65-F5344CB8AC3E}">
        <p14:creationId xmlns:p14="http://schemas.microsoft.com/office/powerpoint/2010/main" val="1908309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DD1AE-0D7E-AD38-017E-AF2D1229D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F001D-4527-E398-B0C6-B6C44C6EE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D5D87-C38F-9828-9224-1436E6206F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734C1F-03A8-27F5-994F-E8F32D57DFF9}"/>
              </a:ext>
            </a:extLst>
          </p:cNvPr>
          <p:cNvSpPr>
            <a:spLocks noGrp="1"/>
          </p:cNvSpPr>
          <p:nvPr>
            <p:ph type="sldNum" sz="quarter" idx="5"/>
          </p:nvPr>
        </p:nvSpPr>
        <p:spPr/>
        <p:txBody>
          <a:bodyPr/>
          <a:lstStyle/>
          <a:p>
            <a:fld id="{3F28A716-B9D7-4E47-9DD2-FED886E51C21}" type="slidenum">
              <a:rPr lang="en-IN" smtClean="0"/>
              <a:t>17</a:t>
            </a:fld>
            <a:endParaRPr lang="en-IN"/>
          </a:p>
        </p:txBody>
      </p:sp>
    </p:spTree>
    <p:extLst>
      <p:ext uri="{BB962C8B-B14F-4D97-AF65-F5344CB8AC3E}">
        <p14:creationId xmlns:p14="http://schemas.microsoft.com/office/powerpoint/2010/main" val="1947841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28A716-B9D7-4E47-9DD2-FED886E51C21}" type="slidenum">
              <a:rPr lang="en-IN" smtClean="0"/>
              <a:t>18</a:t>
            </a:fld>
            <a:endParaRPr lang="en-IN"/>
          </a:p>
        </p:txBody>
      </p:sp>
    </p:spTree>
    <p:extLst>
      <p:ext uri="{BB962C8B-B14F-4D97-AF65-F5344CB8AC3E}">
        <p14:creationId xmlns:p14="http://schemas.microsoft.com/office/powerpoint/2010/main" val="3695243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5300" y="59878"/>
            <a:ext cx="4419498" cy="24447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Tahoma"/>
                <a:cs typeface="Tahoma"/>
              </a:defRPr>
            </a:lvl1pPr>
          </a:lstStyle>
          <a:p>
            <a:pPr marL="12700">
              <a:lnSpc>
                <a:spcPts val="675"/>
              </a:lnSpc>
            </a:pPr>
            <a:r>
              <a:rPr lang="en-US"/>
              <a:t>Brain Tumor Detection Using Image Processing</a:t>
            </a:r>
            <a:endParaRPr spc="-15" dirty="0"/>
          </a:p>
        </p:txBody>
      </p:sp>
      <p:sp>
        <p:nvSpPr>
          <p:cNvPr id="5" name="Holder 5"/>
          <p:cNvSpPr>
            <a:spLocks noGrp="1"/>
          </p:cNvSpPr>
          <p:nvPr>
            <p:ph type="dt" sz="half" idx="6"/>
          </p:nvPr>
        </p:nvSpPr>
        <p:spPr/>
        <p:txBody>
          <a:bodyPr lIns="0" tIns="0" rIns="0" bIns="0"/>
          <a:lstStyle>
            <a:lvl1pPr>
              <a:defRPr sz="600" b="0" i="0">
                <a:solidFill>
                  <a:schemeClr val="bg1"/>
                </a:solidFill>
                <a:latin typeface="Tahoma"/>
                <a:cs typeface="Tahoma"/>
              </a:defRPr>
            </a:lvl1pPr>
          </a:lstStyle>
          <a:p>
            <a:pPr marL="12700">
              <a:lnSpc>
                <a:spcPts val="675"/>
              </a:lnSpc>
            </a:pPr>
            <a:fld id="{02DBE5E1-B6CC-4B7D-8E4E-3866B373116A}" type="datetime1">
              <a:rPr lang="en-US" spc="-10" smtClean="0"/>
              <a:t>10/8/2026</a:t>
            </a:fld>
            <a:endParaRPr spc="-10" dirty="0"/>
          </a:p>
        </p:txBody>
      </p:sp>
      <p:sp>
        <p:nvSpPr>
          <p:cNvPr id="6" name="Holder 6"/>
          <p:cNvSpPr>
            <a:spLocks noGrp="1"/>
          </p:cNvSpPr>
          <p:nvPr>
            <p:ph type="sldNum" sz="quarter" idx="7"/>
          </p:nvPr>
        </p:nvSpPr>
        <p:spPr/>
        <p:txBody>
          <a:bodyPr lIns="0" tIns="0" rIns="0" bIns="0"/>
          <a:lstStyle>
            <a:lvl1pPr>
              <a:defRPr sz="600" b="0" i="0">
                <a:solidFill>
                  <a:schemeClr val="bg1"/>
                </a:solidFill>
                <a:latin typeface="Tahoma"/>
                <a:cs typeface="Tahoma"/>
              </a:defRPr>
            </a:lvl1pPr>
          </a:lstStyle>
          <a:p>
            <a:pPr marL="38100">
              <a:lnSpc>
                <a:spcPts val="675"/>
              </a:lnSpc>
            </a:pPr>
            <a:fld id="{81D60167-4931-47E6-BA6A-407CBD079E47}" type="slidenum">
              <a:rPr spc="-15" dirty="0"/>
              <a:t>‹#›</a:t>
            </a:fld>
            <a:r>
              <a:rPr spc="-10" dirty="0"/>
              <a:t> </a:t>
            </a:r>
            <a:r>
              <a:rPr spc="85" dirty="0"/>
              <a:t>/</a:t>
            </a:r>
            <a:r>
              <a:rPr spc="-5" dirty="0"/>
              <a:t> </a:t>
            </a:r>
            <a:r>
              <a:rPr lang="en-US" spc="-15" dirty="0"/>
              <a:t>29</a:t>
            </a:r>
            <a:endParaRPr spc="-1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0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Tahoma"/>
                <a:cs typeface="Tahoma"/>
              </a:defRPr>
            </a:lvl1pPr>
          </a:lstStyle>
          <a:p>
            <a:pPr marL="12700">
              <a:lnSpc>
                <a:spcPts val="675"/>
              </a:lnSpc>
            </a:pPr>
            <a:r>
              <a:rPr lang="en-US"/>
              <a:t>Brain Tumor Detection Using Image Processing</a:t>
            </a:r>
            <a:endParaRPr spc="-15" dirty="0"/>
          </a:p>
        </p:txBody>
      </p:sp>
      <p:sp>
        <p:nvSpPr>
          <p:cNvPr id="5" name="Holder 5"/>
          <p:cNvSpPr>
            <a:spLocks noGrp="1"/>
          </p:cNvSpPr>
          <p:nvPr>
            <p:ph type="dt" sz="half" idx="6"/>
          </p:nvPr>
        </p:nvSpPr>
        <p:spPr/>
        <p:txBody>
          <a:bodyPr lIns="0" tIns="0" rIns="0" bIns="0"/>
          <a:lstStyle>
            <a:lvl1pPr>
              <a:defRPr sz="600" b="0" i="0">
                <a:solidFill>
                  <a:schemeClr val="bg1"/>
                </a:solidFill>
                <a:latin typeface="Tahoma"/>
                <a:cs typeface="Tahoma"/>
              </a:defRPr>
            </a:lvl1pPr>
          </a:lstStyle>
          <a:p>
            <a:pPr marL="12700">
              <a:lnSpc>
                <a:spcPts val="675"/>
              </a:lnSpc>
            </a:pPr>
            <a:fld id="{AEDC7651-E313-4969-8F59-54768093391A}" type="datetime1">
              <a:rPr lang="en-US" spc="-10" smtClean="0"/>
              <a:t>10/8/2026</a:t>
            </a:fld>
            <a:endParaRPr spc="-10" dirty="0"/>
          </a:p>
        </p:txBody>
      </p:sp>
      <p:sp>
        <p:nvSpPr>
          <p:cNvPr id="6" name="Holder 6"/>
          <p:cNvSpPr>
            <a:spLocks noGrp="1"/>
          </p:cNvSpPr>
          <p:nvPr>
            <p:ph type="sldNum" sz="quarter" idx="7"/>
          </p:nvPr>
        </p:nvSpPr>
        <p:spPr/>
        <p:txBody>
          <a:bodyPr lIns="0" tIns="0" rIns="0" bIns="0"/>
          <a:lstStyle>
            <a:lvl1pPr>
              <a:defRPr sz="600" b="0" i="0">
                <a:solidFill>
                  <a:schemeClr val="bg1"/>
                </a:solidFill>
                <a:latin typeface="Tahoma"/>
                <a:cs typeface="Tahoma"/>
              </a:defRPr>
            </a:lvl1pPr>
          </a:lstStyle>
          <a:p>
            <a:pPr marL="38100">
              <a:lnSpc>
                <a:spcPts val="675"/>
              </a:lnSpc>
            </a:pPr>
            <a:fld id="{81D60167-4931-47E6-BA6A-407CBD079E47}" type="slidenum">
              <a:rPr spc="-15" dirty="0"/>
              <a:t>‹#›</a:t>
            </a:fld>
            <a:r>
              <a:rPr spc="-10" dirty="0"/>
              <a:t> </a:t>
            </a:r>
            <a:r>
              <a:rPr spc="85" dirty="0"/>
              <a:t>/</a:t>
            </a:r>
            <a:r>
              <a:rPr spc="-5" dirty="0"/>
              <a:t> </a:t>
            </a:r>
            <a:r>
              <a:rPr lang="en-US" spc="-15" dirty="0"/>
              <a:t>29</a:t>
            </a:r>
            <a:endParaRPr spc="-1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Tahoma"/>
                <a:cs typeface="Tahoma"/>
              </a:defRPr>
            </a:lvl1pPr>
          </a:lstStyle>
          <a:p>
            <a:pPr marL="12700">
              <a:lnSpc>
                <a:spcPts val="675"/>
              </a:lnSpc>
            </a:pPr>
            <a:r>
              <a:rPr lang="en-US"/>
              <a:t>Brain Tumor Detection Using Image Processing</a:t>
            </a:r>
            <a:endParaRPr spc="-15" dirty="0"/>
          </a:p>
        </p:txBody>
      </p:sp>
      <p:sp>
        <p:nvSpPr>
          <p:cNvPr id="6" name="Holder 6"/>
          <p:cNvSpPr>
            <a:spLocks noGrp="1"/>
          </p:cNvSpPr>
          <p:nvPr>
            <p:ph type="dt" sz="half" idx="6"/>
          </p:nvPr>
        </p:nvSpPr>
        <p:spPr/>
        <p:txBody>
          <a:bodyPr lIns="0" tIns="0" rIns="0" bIns="0"/>
          <a:lstStyle>
            <a:lvl1pPr>
              <a:defRPr sz="600" b="0" i="0">
                <a:solidFill>
                  <a:schemeClr val="bg1"/>
                </a:solidFill>
                <a:latin typeface="Tahoma"/>
                <a:cs typeface="Tahoma"/>
              </a:defRPr>
            </a:lvl1pPr>
          </a:lstStyle>
          <a:p>
            <a:pPr marL="12700">
              <a:lnSpc>
                <a:spcPts val="675"/>
              </a:lnSpc>
            </a:pPr>
            <a:fld id="{395A976F-2C82-4F96-8173-921B3EA416DA}" type="datetime1">
              <a:rPr lang="en-US" spc="-10" smtClean="0"/>
              <a:t>10/8/2026</a:t>
            </a:fld>
            <a:endParaRPr spc="-10" dirty="0"/>
          </a:p>
        </p:txBody>
      </p:sp>
      <p:sp>
        <p:nvSpPr>
          <p:cNvPr id="7" name="Holder 7"/>
          <p:cNvSpPr>
            <a:spLocks noGrp="1"/>
          </p:cNvSpPr>
          <p:nvPr>
            <p:ph type="sldNum" sz="quarter" idx="7"/>
          </p:nvPr>
        </p:nvSpPr>
        <p:spPr/>
        <p:txBody>
          <a:bodyPr lIns="0" tIns="0" rIns="0" bIns="0"/>
          <a:lstStyle>
            <a:lvl1pPr>
              <a:defRPr sz="600" b="0" i="0">
                <a:solidFill>
                  <a:schemeClr val="bg1"/>
                </a:solidFill>
                <a:latin typeface="Tahoma"/>
                <a:cs typeface="Tahoma"/>
              </a:defRPr>
            </a:lvl1pPr>
          </a:lstStyle>
          <a:p>
            <a:pPr marL="38100">
              <a:lnSpc>
                <a:spcPts val="675"/>
              </a:lnSpc>
            </a:pPr>
            <a:fld id="{81D60167-4931-47E6-BA6A-407CBD079E47}" type="slidenum">
              <a:rPr spc="-15" dirty="0"/>
              <a:t>‹#›</a:t>
            </a:fld>
            <a:r>
              <a:rPr spc="-10" dirty="0"/>
              <a:t> </a:t>
            </a:r>
            <a:r>
              <a:rPr spc="85" dirty="0"/>
              <a:t>/</a:t>
            </a:r>
            <a:r>
              <a:rPr spc="-5" dirty="0"/>
              <a:t> </a:t>
            </a:r>
            <a:r>
              <a:rPr lang="en-US" spc="-15" dirty="0"/>
              <a:t>29</a:t>
            </a:r>
            <a:endParaRPr spc="-1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Tahoma"/>
                <a:cs typeface="Tahoma"/>
              </a:defRPr>
            </a:lvl1pPr>
          </a:lstStyle>
          <a:p>
            <a:pPr marL="12700">
              <a:lnSpc>
                <a:spcPts val="675"/>
              </a:lnSpc>
            </a:pPr>
            <a:r>
              <a:rPr lang="en-US"/>
              <a:t>Brain Tumor Detection Using Image Processing</a:t>
            </a:r>
            <a:endParaRPr spc="-15" dirty="0"/>
          </a:p>
        </p:txBody>
      </p:sp>
      <p:sp>
        <p:nvSpPr>
          <p:cNvPr id="4" name="Holder 4"/>
          <p:cNvSpPr>
            <a:spLocks noGrp="1"/>
          </p:cNvSpPr>
          <p:nvPr>
            <p:ph type="dt" sz="half" idx="6"/>
          </p:nvPr>
        </p:nvSpPr>
        <p:spPr/>
        <p:txBody>
          <a:bodyPr lIns="0" tIns="0" rIns="0" bIns="0"/>
          <a:lstStyle>
            <a:lvl1pPr>
              <a:defRPr sz="600" b="0" i="0">
                <a:solidFill>
                  <a:schemeClr val="bg1"/>
                </a:solidFill>
                <a:latin typeface="Tahoma"/>
                <a:cs typeface="Tahoma"/>
              </a:defRPr>
            </a:lvl1pPr>
          </a:lstStyle>
          <a:p>
            <a:pPr marL="12700">
              <a:lnSpc>
                <a:spcPts val="675"/>
              </a:lnSpc>
            </a:pPr>
            <a:fld id="{18693832-DFC5-4E64-A577-192B284C490D}" type="datetime1">
              <a:rPr lang="en-US" spc="-10" smtClean="0"/>
              <a:t>10/8/2026</a:t>
            </a:fld>
            <a:endParaRPr spc="-10" dirty="0"/>
          </a:p>
        </p:txBody>
      </p:sp>
      <p:sp>
        <p:nvSpPr>
          <p:cNvPr id="5" name="Holder 5"/>
          <p:cNvSpPr>
            <a:spLocks noGrp="1"/>
          </p:cNvSpPr>
          <p:nvPr>
            <p:ph type="sldNum" sz="quarter" idx="7"/>
          </p:nvPr>
        </p:nvSpPr>
        <p:spPr/>
        <p:txBody>
          <a:bodyPr lIns="0" tIns="0" rIns="0" bIns="0"/>
          <a:lstStyle>
            <a:lvl1pPr>
              <a:defRPr sz="600" b="0" i="0">
                <a:solidFill>
                  <a:schemeClr val="bg1"/>
                </a:solidFill>
                <a:latin typeface="Tahoma"/>
                <a:cs typeface="Tahoma"/>
              </a:defRPr>
            </a:lvl1pPr>
          </a:lstStyle>
          <a:p>
            <a:pPr marL="38100">
              <a:lnSpc>
                <a:spcPts val="675"/>
              </a:lnSpc>
            </a:pPr>
            <a:fld id="{81D60167-4931-47E6-BA6A-407CBD079E47}" type="slidenum">
              <a:rPr spc="-15" dirty="0"/>
              <a:t>‹#›</a:t>
            </a:fld>
            <a:r>
              <a:rPr spc="-10" dirty="0"/>
              <a:t> </a:t>
            </a:r>
            <a:r>
              <a:rPr spc="85" dirty="0"/>
              <a:t>/</a:t>
            </a:r>
            <a:r>
              <a:rPr spc="-5" dirty="0"/>
              <a:t> </a:t>
            </a:r>
            <a:r>
              <a:rPr lang="en-US" spc="-15" dirty="0"/>
              <a:t>29</a:t>
            </a:r>
            <a:endParaRPr spc="-1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Tahoma"/>
                <a:cs typeface="Tahoma"/>
              </a:defRPr>
            </a:lvl1pPr>
          </a:lstStyle>
          <a:p>
            <a:pPr marL="12700">
              <a:lnSpc>
                <a:spcPts val="675"/>
              </a:lnSpc>
            </a:pPr>
            <a:r>
              <a:rPr lang="en-US"/>
              <a:t>Brain Tumor Detection Using Image Processing</a:t>
            </a:r>
            <a:endParaRPr spc="-15" dirty="0"/>
          </a:p>
        </p:txBody>
      </p:sp>
      <p:sp>
        <p:nvSpPr>
          <p:cNvPr id="3" name="Holder 3"/>
          <p:cNvSpPr>
            <a:spLocks noGrp="1"/>
          </p:cNvSpPr>
          <p:nvPr>
            <p:ph type="dt" sz="half" idx="6"/>
          </p:nvPr>
        </p:nvSpPr>
        <p:spPr/>
        <p:txBody>
          <a:bodyPr lIns="0" tIns="0" rIns="0" bIns="0"/>
          <a:lstStyle>
            <a:lvl1pPr>
              <a:defRPr sz="600" b="0" i="0">
                <a:solidFill>
                  <a:schemeClr val="bg1"/>
                </a:solidFill>
                <a:latin typeface="Tahoma"/>
                <a:cs typeface="Tahoma"/>
              </a:defRPr>
            </a:lvl1pPr>
          </a:lstStyle>
          <a:p>
            <a:pPr marL="12700">
              <a:lnSpc>
                <a:spcPts val="675"/>
              </a:lnSpc>
            </a:pPr>
            <a:fld id="{47A4CA95-60C4-4295-9D34-1BB52D4921EA}" type="datetime1">
              <a:rPr lang="en-US" spc="-10" smtClean="0"/>
              <a:t>10/8/2026</a:t>
            </a:fld>
            <a:endParaRPr spc="-10" dirty="0"/>
          </a:p>
        </p:txBody>
      </p:sp>
      <p:sp>
        <p:nvSpPr>
          <p:cNvPr id="4" name="Holder 4"/>
          <p:cNvSpPr>
            <a:spLocks noGrp="1"/>
          </p:cNvSpPr>
          <p:nvPr>
            <p:ph type="sldNum" sz="quarter" idx="7"/>
          </p:nvPr>
        </p:nvSpPr>
        <p:spPr/>
        <p:txBody>
          <a:bodyPr lIns="0" tIns="0" rIns="0" bIns="0"/>
          <a:lstStyle>
            <a:lvl1pPr>
              <a:defRPr sz="600" b="0" i="0">
                <a:solidFill>
                  <a:schemeClr val="bg1"/>
                </a:solidFill>
                <a:latin typeface="Tahoma"/>
                <a:cs typeface="Tahoma"/>
              </a:defRPr>
            </a:lvl1pPr>
          </a:lstStyle>
          <a:p>
            <a:pPr marL="38100">
              <a:lnSpc>
                <a:spcPts val="675"/>
              </a:lnSpc>
            </a:pPr>
            <a:fld id="{81D60167-4931-47E6-BA6A-407CBD079E47}" type="slidenum">
              <a:rPr spc="-15" dirty="0"/>
              <a:t>‹#›</a:t>
            </a:fld>
            <a:r>
              <a:rPr spc="-10" dirty="0"/>
              <a:t> </a:t>
            </a:r>
            <a:r>
              <a:rPr spc="85" dirty="0"/>
              <a:t>/</a:t>
            </a:r>
            <a:r>
              <a:rPr spc="-5" dirty="0"/>
              <a:t> </a:t>
            </a:r>
            <a:r>
              <a:rPr lang="en-US" spc="-15" dirty="0"/>
              <a:t>29</a:t>
            </a:r>
            <a:endParaRPr spc="-1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3333B2"/>
          </a:solidFill>
        </p:spPr>
        <p:txBody>
          <a:bodyPr wrap="square" lIns="0" tIns="0" rIns="0" bIns="0" rtlCol="0"/>
          <a:lstStyle/>
          <a:p>
            <a:endParaRPr/>
          </a:p>
        </p:txBody>
      </p:sp>
      <p:sp>
        <p:nvSpPr>
          <p:cNvPr id="2" name="Holder 2"/>
          <p:cNvSpPr>
            <a:spLocks noGrp="1"/>
          </p:cNvSpPr>
          <p:nvPr>
            <p:ph type="title"/>
          </p:nvPr>
        </p:nvSpPr>
        <p:spPr>
          <a:xfrm>
            <a:off x="967066" y="249209"/>
            <a:ext cx="2675966" cy="471805"/>
          </a:xfrm>
          <a:prstGeom prst="rect">
            <a:avLst/>
          </a:prstGeom>
        </p:spPr>
        <p:txBody>
          <a:bodyPr wrap="square" lIns="0" tIns="0" rIns="0" bIns="0">
            <a:spAutoFit/>
          </a:bodyPr>
          <a:lstStyle>
            <a:lvl1pPr>
              <a:defRPr sz="1400" b="0" i="0">
                <a:solidFill>
                  <a:schemeClr val="bg1"/>
                </a:solidFill>
                <a:latin typeface="Tahoma"/>
                <a:cs typeface="Tahoma"/>
              </a:defRPr>
            </a:lvl1pPr>
          </a:lstStyle>
          <a:p>
            <a:endParaRPr/>
          </a:p>
        </p:txBody>
      </p:sp>
      <p:sp>
        <p:nvSpPr>
          <p:cNvPr id="3" name="Holder 3"/>
          <p:cNvSpPr>
            <a:spLocks noGrp="1"/>
          </p:cNvSpPr>
          <p:nvPr>
            <p:ph type="body" idx="1"/>
          </p:nvPr>
        </p:nvSpPr>
        <p:spPr>
          <a:xfrm>
            <a:off x="127292" y="720685"/>
            <a:ext cx="4355515" cy="2094864"/>
          </a:xfrm>
          <a:prstGeom prst="rect">
            <a:avLst/>
          </a:prstGeom>
        </p:spPr>
        <p:txBody>
          <a:bodyPr wrap="square" lIns="0" tIns="0" rIns="0" bIns="0">
            <a:spAutoFit/>
          </a:bodyPr>
          <a:lstStyle>
            <a:lvl1pPr>
              <a:defRPr sz="10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3205670" y="3351784"/>
            <a:ext cx="904239" cy="102235"/>
          </a:xfrm>
          <a:prstGeom prst="rect">
            <a:avLst/>
          </a:prstGeom>
        </p:spPr>
        <p:txBody>
          <a:bodyPr wrap="square" lIns="0" tIns="0" rIns="0" bIns="0">
            <a:spAutoFit/>
          </a:bodyPr>
          <a:lstStyle>
            <a:lvl1pPr>
              <a:defRPr sz="600" b="0" i="0">
                <a:solidFill>
                  <a:schemeClr val="bg1"/>
                </a:solidFill>
                <a:latin typeface="Tahoma"/>
                <a:cs typeface="Tahoma"/>
              </a:defRPr>
            </a:lvl1pPr>
          </a:lstStyle>
          <a:p>
            <a:pPr marL="12700">
              <a:lnSpc>
                <a:spcPts val="675"/>
              </a:lnSpc>
            </a:pPr>
            <a:r>
              <a:rPr lang="en-US"/>
              <a:t>Brain Tumor Detection Using Image Processing</a:t>
            </a:r>
            <a:endParaRPr spc="-15" dirty="0"/>
          </a:p>
        </p:txBody>
      </p:sp>
      <p:sp>
        <p:nvSpPr>
          <p:cNvPr id="5" name="Holder 5"/>
          <p:cNvSpPr>
            <a:spLocks noGrp="1"/>
          </p:cNvSpPr>
          <p:nvPr>
            <p:ph type="dt" sz="half" idx="6"/>
          </p:nvPr>
        </p:nvSpPr>
        <p:spPr>
          <a:xfrm>
            <a:off x="180581" y="3351784"/>
            <a:ext cx="1174750" cy="102235"/>
          </a:xfrm>
          <a:prstGeom prst="rect">
            <a:avLst/>
          </a:prstGeom>
        </p:spPr>
        <p:txBody>
          <a:bodyPr wrap="square" lIns="0" tIns="0" rIns="0" bIns="0">
            <a:spAutoFit/>
          </a:bodyPr>
          <a:lstStyle>
            <a:lvl1pPr>
              <a:defRPr sz="600" b="0" i="0">
                <a:solidFill>
                  <a:schemeClr val="bg1"/>
                </a:solidFill>
                <a:latin typeface="Tahoma"/>
                <a:cs typeface="Tahoma"/>
              </a:defRPr>
            </a:lvl1pPr>
          </a:lstStyle>
          <a:p>
            <a:pPr marL="12700">
              <a:lnSpc>
                <a:spcPts val="675"/>
              </a:lnSpc>
            </a:pPr>
            <a:fld id="{F5069E8B-92E8-41DA-B356-C520896E10B1}" type="datetime1">
              <a:rPr lang="en-US" spc="-10" smtClean="0"/>
              <a:t>10/8/2026</a:t>
            </a:fld>
            <a:endParaRPr spc="-10" dirty="0"/>
          </a:p>
        </p:txBody>
      </p:sp>
      <p:sp>
        <p:nvSpPr>
          <p:cNvPr id="6" name="Holder 6"/>
          <p:cNvSpPr>
            <a:spLocks noGrp="1"/>
          </p:cNvSpPr>
          <p:nvPr>
            <p:ph type="sldNum" sz="quarter" idx="7"/>
          </p:nvPr>
        </p:nvSpPr>
        <p:spPr>
          <a:xfrm>
            <a:off x="4246853" y="3351784"/>
            <a:ext cx="344804" cy="89768"/>
          </a:xfrm>
          <a:prstGeom prst="rect">
            <a:avLst/>
          </a:prstGeom>
        </p:spPr>
        <p:txBody>
          <a:bodyPr wrap="square" lIns="0" tIns="0" rIns="0" bIns="0">
            <a:spAutoFit/>
          </a:bodyPr>
          <a:lstStyle>
            <a:lvl1pPr>
              <a:defRPr sz="600" b="0" i="0">
                <a:solidFill>
                  <a:schemeClr val="bg1"/>
                </a:solidFill>
                <a:latin typeface="Tahoma"/>
                <a:cs typeface="Tahoma"/>
              </a:defRPr>
            </a:lvl1pPr>
          </a:lstStyle>
          <a:p>
            <a:pPr marL="38100">
              <a:lnSpc>
                <a:spcPts val="675"/>
              </a:lnSpc>
            </a:pPr>
            <a:fld id="{81D60167-4931-47E6-BA6A-407CBD079E47}" type="slidenum">
              <a:rPr spc="-15" dirty="0"/>
              <a:t>‹#›</a:t>
            </a:fld>
            <a:r>
              <a:rPr spc="-10" dirty="0"/>
              <a:t> </a:t>
            </a:r>
            <a:r>
              <a:rPr spc="85" dirty="0"/>
              <a:t>/</a:t>
            </a:r>
            <a:r>
              <a:rPr spc="-5" dirty="0"/>
              <a:t> </a:t>
            </a:r>
            <a:r>
              <a:rPr lang="en-US" spc="-15" dirty="0"/>
              <a:t>29</a:t>
            </a:r>
            <a:endParaRPr spc="-1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hyperlink" Target="http://localhost:8501/"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7743" y="197421"/>
            <a:ext cx="4432935" cy="82550"/>
          </a:xfrm>
          <a:custGeom>
            <a:avLst/>
            <a:gdLst/>
            <a:ahLst/>
            <a:cxnLst/>
            <a:rect l="l" t="t" r="r" b="b"/>
            <a:pathLst>
              <a:path w="4432935" h="82550">
                <a:moveTo>
                  <a:pt x="4381765" y="0"/>
                </a:moveTo>
                <a:lnTo>
                  <a:pt x="50800" y="0"/>
                </a:lnTo>
                <a:lnTo>
                  <a:pt x="31075" y="4008"/>
                </a:lnTo>
                <a:lnTo>
                  <a:pt x="14922" y="14922"/>
                </a:lnTo>
                <a:lnTo>
                  <a:pt x="4008" y="31075"/>
                </a:lnTo>
                <a:lnTo>
                  <a:pt x="0" y="50800"/>
                </a:lnTo>
                <a:lnTo>
                  <a:pt x="0" y="82384"/>
                </a:lnTo>
                <a:lnTo>
                  <a:pt x="4432566" y="82384"/>
                </a:lnTo>
                <a:lnTo>
                  <a:pt x="4432566" y="50800"/>
                </a:lnTo>
                <a:lnTo>
                  <a:pt x="4428558" y="31075"/>
                </a:lnTo>
                <a:lnTo>
                  <a:pt x="4417643" y="14922"/>
                </a:lnTo>
                <a:lnTo>
                  <a:pt x="4401490" y="4008"/>
                </a:lnTo>
                <a:lnTo>
                  <a:pt x="4381765" y="0"/>
                </a:lnTo>
                <a:close/>
              </a:path>
            </a:pathLst>
          </a:custGeom>
          <a:solidFill>
            <a:srgbClr val="3333B2"/>
          </a:solidFill>
        </p:spPr>
        <p:txBody>
          <a:bodyPr wrap="square" lIns="0" tIns="0" rIns="0" bIns="0" rtlCol="0"/>
          <a:lstStyle/>
          <a:p>
            <a:endParaRPr/>
          </a:p>
        </p:txBody>
      </p:sp>
      <p:grpSp>
        <p:nvGrpSpPr>
          <p:cNvPr id="3" name="object 3"/>
          <p:cNvGrpSpPr/>
          <p:nvPr/>
        </p:nvGrpSpPr>
        <p:grpSpPr>
          <a:xfrm>
            <a:off x="87743" y="241842"/>
            <a:ext cx="4483735" cy="611505"/>
            <a:chOff x="87743" y="241842"/>
            <a:chExt cx="4483735" cy="611505"/>
          </a:xfrm>
        </p:grpSpPr>
        <p:pic>
          <p:nvPicPr>
            <p:cNvPr id="4" name="object 4"/>
            <p:cNvPicPr/>
            <p:nvPr/>
          </p:nvPicPr>
          <p:blipFill>
            <a:blip r:embed="rId2" cstate="print"/>
            <a:stretch>
              <a:fillRect/>
            </a:stretch>
          </p:blipFill>
          <p:spPr>
            <a:xfrm>
              <a:off x="138544" y="751319"/>
              <a:ext cx="101599" cy="101600"/>
            </a:xfrm>
            <a:prstGeom prst="rect">
              <a:avLst/>
            </a:prstGeom>
          </p:spPr>
        </p:pic>
        <p:pic>
          <p:nvPicPr>
            <p:cNvPr id="5" name="object 5"/>
            <p:cNvPicPr/>
            <p:nvPr/>
          </p:nvPicPr>
          <p:blipFill>
            <a:blip r:embed="rId3" cstate="print"/>
            <a:stretch>
              <a:fillRect/>
            </a:stretch>
          </p:blipFill>
          <p:spPr>
            <a:xfrm>
              <a:off x="189344" y="738619"/>
              <a:ext cx="4381715" cy="114300"/>
            </a:xfrm>
            <a:prstGeom prst="rect">
              <a:avLst/>
            </a:prstGeom>
          </p:spPr>
        </p:pic>
        <p:pic>
          <p:nvPicPr>
            <p:cNvPr id="6" name="object 6"/>
            <p:cNvPicPr/>
            <p:nvPr/>
          </p:nvPicPr>
          <p:blipFill>
            <a:blip r:embed="rId4" cstate="print"/>
            <a:stretch>
              <a:fillRect/>
            </a:stretch>
          </p:blipFill>
          <p:spPr>
            <a:xfrm>
              <a:off x="4520310" y="247992"/>
              <a:ext cx="50749" cy="503326"/>
            </a:xfrm>
            <a:prstGeom prst="rect">
              <a:avLst/>
            </a:prstGeom>
          </p:spPr>
        </p:pic>
        <p:sp>
          <p:nvSpPr>
            <p:cNvPr id="7" name="object 7"/>
            <p:cNvSpPr/>
            <p:nvPr/>
          </p:nvSpPr>
          <p:spPr>
            <a:xfrm>
              <a:off x="87743" y="241842"/>
              <a:ext cx="4432935" cy="560705"/>
            </a:xfrm>
            <a:custGeom>
              <a:avLst/>
              <a:gdLst/>
              <a:ahLst/>
              <a:cxnLst/>
              <a:rect l="l" t="t" r="r" b="b"/>
              <a:pathLst>
                <a:path w="4432935" h="560705">
                  <a:moveTo>
                    <a:pt x="4432566" y="0"/>
                  </a:moveTo>
                  <a:lnTo>
                    <a:pt x="0" y="0"/>
                  </a:lnTo>
                  <a:lnTo>
                    <a:pt x="0" y="509477"/>
                  </a:lnTo>
                  <a:lnTo>
                    <a:pt x="4008" y="529202"/>
                  </a:lnTo>
                  <a:lnTo>
                    <a:pt x="14922" y="545354"/>
                  </a:lnTo>
                  <a:lnTo>
                    <a:pt x="31075" y="556269"/>
                  </a:lnTo>
                  <a:lnTo>
                    <a:pt x="50800" y="560277"/>
                  </a:lnTo>
                  <a:lnTo>
                    <a:pt x="4381765" y="560277"/>
                  </a:lnTo>
                  <a:lnTo>
                    <a:pt x="4401490" y="556269"/>
                  </a:lnTo>
                  <a:lnTo>
                    <a:pt x="4417643" y="545354"/>
                  </a:lnTo>
                  <a:lnTo>
                    <a:pt x="4428558" y="529202"/>
                  </a:lnTo>
                  <a:lnTo>
                    <a:pt x="4432566" y="509477"/>
                  </a:lnTo>
                  <a:lnTo>
                    <a:pt x="4432566" y="0"/>
                  </a:lnTo>
                  <a:close/>
                </a:path>
              </a:pathLst>
            </a:custGeom>
            <a:solidFill>
              <a:srgbClr val="3333B2"/>
            </a:solidFill>
          </p:spPr>
          <p:txBody>
            <a:bodyPr wrap="square" lIns="0" tIns="0" rIns="0" bIns="0" rtlCol="0"/>
            <a:lstStyle/>
            <a:p>
              <a:endParaRPr/>
            </a:p>
          </p:txBody>
        </p:sp>
        <p:sp>
          <p:nvSpPr>
            <p:cNvPr id="8" name="object 8"/>
            <p:cNvSpPr/>
            <p:nvPr/>
          </p:nvSpPr>
          <p:spPr>
            <a:xfrm>
              <a:off x="4520310" y="286079"/>
              <a:ext cx="0" cy="484505"/>
            </a:xfrm>
            <a:custGeom>
              <a:avLst/>
              <a:gdLst/>
              <a:ahLst/>
              <a:cxnLst/>
              <a:rect l="l" t="t" r="r" b="b"/>
              <a:pathLst>
                <a:path h="484505">
                  <a:moveTo>
                    <a:pt x="0" y="484289"/>
                  </a:moveTo>
                  <a:lnTo>
                    <a:pt x="0" y="0"/>
                  </a:lnTo>
                </a:path>
              </a:pathLst>
            </a:custGeom>
            <a:ln w="3175">
              <a:solidFill>
                <a:srgbClr val="7F7F7F"/>
              </a:solidFill>
            </a:ln>
          </p:spPr>
          <p:txBody>
            <a:bodyPr wrap="square" lIns="0" tIns="0" rIns="0" bIns="0" rtlCol="0"/>
            <a:lstStyle/>
            <a:p>
              <a:endParaRPr/>
            </a:p>
          </p:txBody>
        </p:sp>
        <p:sp>
          <p:nvSpPr>
            <p:cNvPr id="9" name="object 9"/>
            <p:cNvSpPr/>
            <p:nvPr/>
          </p:nvSpPr>
          <p:spPr>
            <a:xfrm>
              <a:off x="4520310" y="273379"/>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0" name="object 10"/>
            <p:cNvSpPr/>
            <p:nvPr/>
          </p:nvSpPr>
          <p:spPr>
            <a:xfrm>
              <a:off x="4520310" y="260679"/>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1" name="object 11"/>
            <p:cNvSpPr/>
            <p:nvPr/>
          </p:nvSpPr>
          <p:spPr>
            <a:xfrm>
              <a:off x="4520310" y="247979"/>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2" name="object 12"/>
          <p:cNvSpPr txBox="1">
            <a:spLocks noGrp="1"/>
          </p:cNvSpPr>
          <p:nvPr>
            <p:ph type="title"/>
          </p:nvPr>
        </p:nvSpPr>
        <p:spPr>
          <a:xfrm>
            <a:off x="967066" y="249209"/>
            <a:ext cx="2675966" cy="442878"/>
          </a:xfrm>
          <a:prstGeom prst="rect">
            <a:avLst/>
          </a:prstGeom>
        </p:spPr>
        <p:txBody>
          <a:bodyPr vert="horz" wrap="square" lIns="0" tIns="2540" rIns="0" bIns="0" rtlCol="0">
            <a:spAutoFit/>
          </a:bodyPr>
          <a:lstStyle/>
          <a:p>
            <a:pPr marL="647700" marR="5080" indent="-635635">
              <a:lnSpc>
                <a:spcPct val="106700"/>
              </a:lnSpc>
              <a:spcBef>
                <a:spcPts val="20"/>
              </a:spcBef>
            </a:pPr>
            <a:r>
              <a:rPr lang="en-US" dirty="0"/>
              <a:t>    YojanaBench: Welfare-Scheme Document Reasoning</a:t>
            </a:r>
            <a:endParaRPr spc="-25" dirty="0"/>
          </a:p>
        </p:txBody>
      </p:sp>
      <p:sp>
        <p:nvSpPr>
          <p:cNvPr id="13" name="object 13"/>
          <p:cNvSpPr txBox="1"/>
          <p:nvPr/>
        </p:nvSpPr>
        <p:spPr>
          <a:xfrm>
            <a:off x="1591043" y="847206"/>
            <a:ext cx="1426210" cy="267335"/>
          </a:xfrm>
          <a:prstGeom prst="rect">
            <a:avLst/>
          </a:prstGeom>
        </p:spPr>
        <p:txBody>
          <a:bodyPr vert="horz" wrap="square" lIns="0" tIns="12065" rIns="0" bIns="0" rtlCol="0">
            <a:spAutoFit/>
          </a:bodyPr>
          <a:lstStyle/>
          <a:p>
            <a:pPr algn="ctr">
              <a:lnSpc>
                <a:spcPts val="955"/>
              </a:lnSpc>
              <a:spcBef>
                <a:spcPts val="95"/>
              </a:spcBef>
            </a:pPr>
            <a:r>
              <a:rPr sz="800" b="1" spc="15" dirty="0">
                <a:latin typeface="Arial"/>
                <a:cs typeface="Arial"/>
              </a:rPr>
              <a:t>UNDER</a:t>
            </a:r>
            <a:r>
              <a:rPr sz="800" b="1" spc="60" dirty="0">
                <a:latin typeface="Arial"/>
                <a:cs typeface="Arial"/>
              </a:rPr>
              <a:t> </a:t>
            </a:r>
            <a:r>
              <a:rPr sz="800" b="1" spc="40" dirty="0">
                <a:latin typeface="Arial"/>
                <a:cs typeface="Arial"/>
              </a:rPr>
              <a:t>THE</a:t>
            </a:r>
            <a:r>
              <a:rPr sz="800" b="1" spc="60" dirty="0">
                <a:latin typeface="Arial"/>
                <a:cs typeface="Arial"/>
              </a:rPr>
              <a:t> </a:t>
            </a:r>
            <a:r>
              <a:rPr sz="800" b="1" spc="5" dirty="0">
                <a:latin typeface="Arial"/>
                <a:cs typeface="Arial"/>
              </a:rPr>
              <a:t>GUIDANCE</a:t>
            </a:r>
            <a:r>
              <a:rPr sz="800" b="1" spc="65" dirty="0">
                <a:latin typeface="Arial"/>
                <a:cs typeface="Arial"/>
              </a:rPr>
              <a:t> </a:t>
            </a:r>
            <a:r>
              <a:rPr sz="800" b="1" dirty="0">
                <a:latin typeface="Arial"/>
                <a:cs typeface="Arial"/>
              </a:rPr>
              <a:t>OF</a:t>
            </a:r>
            <a:endParaRPr sz="800" dirty="0">
              <a:latin typeface="Arial"/>
              <a:cs typeface="Arial"/>
            </a:endParaRPr>
          </a:p>
          <a:p>
            <a:pPr algn="ctr">
              <a:lnSpc>
                <a:spcPts val="955"/>
              </a:lnSpc>
            </a:pPr>
            <a:r>
              <a:rPr sz="800" spc="15" dirty="0">
                <a:latin typeface="Tahoma"/>
                <a:cs typeface="Tahoma"/>
              </a:rPr>
              <a:t>Prof.</a:t>
            </a:r>
            <a:r>
              <a:rPr sz="800" spc="110" dirty="0">
                <a:latin typeface="Tahoma"/>
                <a:cs typeface="Tahoma"/>
              </a:rPr>
              <a:t> </a:t>
            </a:r>
            <a:r>
              <a:rPr lang="en-US" sz="800" spc="20" dirty="0">
                <a:latin typeface="Tahoma"/>
                <a:cs typeface="Tahoma"/>
              </a:rPr>
              <a:t>Disha Nagpure</a:t>
            </a:r>
            <a:endParaRPr sz="800" dirty="0">
              <a:latin typeface="Tahoma"/>
              <a:cs typeface="Tahoma"/>
            </a:endParaRPr>
          </a:p>
        </p:txBody>
      </p:sp>
      <p:sp>
        <p:nvSpPr>
          <p:cNvPr id="15" name="object 15"/>
          <p:cNvSpPr txBox="1"/>
          <p:nvPr/>
        </p:nvSpPr>
        <p:spPr>
          <a:xfrm>
            <a:off x="1068979" y="2834702"/>
            <a:ext cx="2514600" cy="437940"/>
          </a:xfrm>
          <a:prstGeom prst="rect">
            <a:avLst/>
          </a:prstGeom>
        </p:spPr>
        <p:txBody>
          <a:bodyPr vert="horz" wrap="square" lIns="0" tIns="12065" rIns="0" bIns="0" rtlCol="0">
            <a:spAutoFit/>
          </a:bodyPr>
          <a:lstStyle/>
          <a:p>
            <a:pPr marL="66675" marR="59055" indent="-635" algn="ctr">
              <a:lnSpc>
                <a:spcPts val="950"/>
              </a:lnSpc>
              <a:spcBef>
                <a:spcPts val="35"/>
              </a:spcBef>
            </a:pPr>
            <a:endParaRPr lang="en-US" sz="800" spc="5" dirty="0">
              <a:latin typeface="Times New Roman" panose="02020603050405020304" pitchFamily="18" charset="0"/>
              <a:cs typeface="Times New Roman" panose="02020603050405020304" pitchFamily="18" charset="0"/>
            </a:endParaRPr>
          </a:p>
          <a:p>
            <a:pPr marL="66675" marR="59055" indent="-635" algn="ctr">
              <a:lnSpc>
                <a:spcPts val="950"/>
              </a:lnSpc>
              <a:spcBef>
                <a:spcPts val="35"/>
              </a:spcBef>
            </a:pPr>
            <a:r>
              <a:rPr lang="en-US" sz="800" spc="5" dirty="0">
                <a:latin typeface="Times New Roman" panose="02020603050405020304" pitchFamily="18" charset="0"/>
                <a:cs typeface="Times New Roman" panose="02020603050405020304" pitchFamily="18" charset="0"/>
              </a:rPr>
              <a:t>Academic</a:t>
            </a:r>
            <a:r>
              <a:rPr lang="en-US" sz="800" spc="-5" dirty="0">
                <a:latin typeface="Times New Roman" panose="02020603050405020304" pitchFamily="18" charset="0"/>
                <a:cs typeface="Times New Roman" panose="02020603050405020304" pitchFamily="18" charset="0"/>
              </a:rPr>
              <a:t> </a:t>
            </a:r>
            <a:r>
              <a:rPr lang="en-US" sz="800" spc="-20" dirty="0">
                <a:latin typeface="Times New Roman" panose="02020603050405020304" pitchFamily="18" charset="0"/>
                <a:cs typeface="Times New Roman" panose="02020603050405020304" pitchFamily="18" charset="0"/>
              </a:rPr>
              <a:t>Year:2024-2025</a:t>
            </a:r>
            <a:endParaRPr lang="en-US" sz="950" dirty="0">
              <a:latin typeface="Times New Roman" panose="02020603050405020304" pitchFamily="18" charset="0"/>
              <a:cs typeface="Times New Roman" panose="02020603050405020304" pitchFamily="18" charset="0"/>
            </a:endParaRPr>
          </a:p>
          <a:p>
            <a:pPr algn="ctr">
              <a:lnSpc>
                <a:spcPct val="100000"/>
              </a:lnSpc>
            </a:pPr>
            <a:r>
              <a:rPr lang="en-US" sz="1100" spc="-50" dirty="0">
                <a:latin typeface="Times New Roman" panose="02020603050405020304" pitchFamily="18" charset="0"/>
                <a:cs typeface="Times New Roman" panose="02020603050405020304" pitchFamily="18" charset="0"/>
              </a:rPr>
              <a:t>June</a:t>
            </a:r>
            <a:r>
              <a:rPr sz="1100" dirty="0">
                <a:latin typeface="Times New Roman" panose="02020603050405020304" pitchFamily="18" charset="0"/>
                <a:cs typeface="Times New Roman" panose="02020603050405020304" pitchFamily="18" charset="0"/>
              </a:rPr>
              <a:t> </a:t>
            </a:r>
            <a:r>
              <a:rPr lang="en-US" sz="1100" spc="-50" dirty="0">
                <a:latin typeface="Times New Roman" panose="02020603050405020304" pitchFamily="18" charset="0"/>
                <a:cs typeface="Times New Roman" panose="02020603050405020304" pitchFamily="18" charset="0"/>
              </a:rPr>
              <a:t>11</a:t>
            </a:r>
            <a:r>
              <a:rPr sz="1100" spc="-50" dirty="0">
                <a:latin typeface="Times New Roman" panose="02020603050405020304" pitchFamily="18" charset="0"/>
                <a:cs typeface="Times New Roman" panose="02020603050405020304" pitchFamily="18" charset="0"/>
              </a:rPr>
              <a:t>,</a:t>
            </a:r>
            <a:r>
              <a:rPr sz="1100" spc="-5" dirty="0">
                <a:latin typeface="Times New Roman" panose="02020603050405020304" pitchFamily="18" charset="0"/>
                <a:cs typeface="Times New Roman" panose="02020603050405020304" pitchFamily="18" charset="0"/>
              </a:rPr>
              <a:t> </a:t>
            </a:r>
            <a:r>
              <a:rPr sz="1100" spc="-55" dirty="0">
                <a:latin typeface="Times New Roman" panose="02020603050405020304" pitchFamily="18" charset="0"/>
                <a:cs typeface="Times New Roman" panose="02020603050405020304" pitchFamily="18" charset="0"/>
              </a:rPr>
              <a:t>202</a:t>
            </a:r>
            <a:r>
              <a:rPr lang="en-US" sz="1100" spc="-55" dirty="0">
                <a:latin typeface="Times New Roman" panose="02020603050405020304" pitchFamily="18" charset="0"/>
                <a:cs typeface="Times New Roman" panose="02020603050405020304" pitchFamily="18" charset="0"/>
              </a:rPr>
              <a:t>5</a:t>
            </a:r>
            <a:endParaRPr sz="1100" dirty="0">
              <a:latin typeface="Times New Roman" panose="02020603050405020304" pitchFamily="18" charset="0"/>
              <a:cs typeface="Times New Roman" panose="02020603050405020304" pitchFamily="18" charset="0"/>
            </a:endParaRPr>
          </a:p>
        </p:txBody>
      </p:sp>
      <p:grpSp>
        <p:nvGrpSpPr>
          <p:cNvPr id="16" name="object 16"/>
          <p:cNvGrpSpPr/>
          <p:nvPr/>
        </p:nvGrpSpPr>
        <p:grpSpPr>
          <a:xfrm>
            <a:off x="0" y="3287306"/>
            <a:ext cx="4608195" cy="168910"/>
            <a:chOff x="0" y="3287306"/>
            <a:chExt cx="4608195" cy="168910"/>
          </a:xfrm>
        </p:grpSpPr>
        <p:sp>
          <p:nvSpPr>
            <p:cNvPr id="17" name="object 17"/>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p>
          </p:txBody>
        </p:sp>
        <p:sp>
          <p:nvSpPr>
            <p:cNvPr id="18" name="object 18"/>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p>
          </p:txBody>
        </p:sp>
        <p:sp>
          <p:nvSpPr>
            <p:cNvPr id="19" name="object 19"/>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p>
          </p:txBody>
        </p:sp>
      </p:grpSp>
      <p:sp>
        <p:nvSpPr>
          <p:cNvPr id="21" name="object 21"/>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t>11/006/2025</a:t>
            </a:r>
            <a:endParaRPr spc="-10" dirty="0"/>
          </a:p>
        </p:txBody>
      </p:sp>
      <p:sp>
        <p:nvSpPr>
          <p:cNvPr id="22" name="object 22"/>
          <p:cNvSpPr txBox="1">
            <a:spLocks noGrp="1"/>
          </p:cNvSpPr>
          <p:nvPr>
            <p:ph type="ftr" sz="quarter" idx="5"/>
          </p:nvPr>
        </p:nvSpPr>
        <p:spPr>
          <a:xfrm>
            <a:off x="1466850" y="3323521"/>
            <a:ext cx="1718859" cy="89768"/>
          </a:xfrm>
          <a:prstGeom prst="rect">
            <a:avLst/>
          </a:prstGeom>
        </p:spPr>
        <p:txBody>
          <a:bodyPr vert="horz" wrap="square" lIns="0" tIns="0" rIns="0" bIns="0" rtlCol="0">
            <a:spAutoFit/>
          </a:bodyPr>
          <a:lstStyle/>
          <a:p>
            <a:pPr marL="12700">
              <a:lnSpc>
                <a:spcPts val="675"/>
              </a:lnSpc>
            </a:pPr>
            <a:r>
              <a:rPr lang="en-US" dirty="0"/>
              <a:t>YojanaBench: Scheme Document Reasoning</a:t>
            </a:r>
            <a:endParaRPr spc="-15" dirty="0"/>
          </a:p>
        </p:txBody>
      </p:sp>
      <p:sp>
        <p:nvSpPr>
          <p:cNvPr id="23" name="object 23"/>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t>1</a:t>
            </a:fld>
            <a:r>
              <a:rPr spc="-10" dirty="0"/>
              <a:t> </a:t>
            </a:r>
            <a:r>
              <a:rPr spc="85" dirty="0"/>
              <a:t>/</a:t>
            </a:r>
            <a:r>
              <a:rPr spc="-5" dirty="0"/>
              <a:t> </a:t>
            </a:r>
            <a:r>
              <a:rPr lang="en-US" spc="-15" dirty="0"/>
              <a:t>29</a:t>
            </a:r>
            <a:endParaRPr spc="-15" dirty="0"/>
          </a:p>
        </p:txBody>
      </p:sp>
      <p:pic>
        <p:nvPicPr>
          <p:cNvPr id="25" name="Picture 24">
            <a:extLst>
              <a:ext uri="{FF2B5EF4-FFF2-40B4-BE49-F238E27FC236}">
                <a16:creationId xmlns:a16="http://schemas.microsoft.com/office/drawing/2014/main" id="{09F5437F-7F2C-07DA-B5F5-3C8B90008E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59984" y="1172897"/>
            <a:ext cx="888048" cy="826769"/>
          </a:xfrm>
          <a:prstGeom prst="rect">
            <a:avLst/>
          </a:prstGeom>
        </p:spPr>
      </p:pic>
      <p:sp>
        <p:nvSpPr>
          <p:cNvPr id="20" name="TextBox 19">
            <a:extLst>
              <a:ext uri="{FF2B5EF4-FFF2-40B4-BE49-F238E27FC236}">
                <a16:creationId xmlns:a16="http://schemas.microsoft.com/office/drawing/2014/main" id="{B736417B-6B2C-CE35-7F3C-8577AE42232F}"/>
              </a:ext>
            </a:extLst>
          </p:cNvPr>
          <p:cNvSpPr txBox="1"/>
          <p:nvPr/>
        </p:nvSpPr>
        <p:spPr>
          <a:xfrm>
            <a:off x="1151211" y="2006481"/>
            <a:ext cx="2305594" cy="221599"/>
          </a:xfrm>
          <a:prstGeom prst="rect">
            <a:avLst/>
          </a:prstGeom>
          <a:noFill/>
        </p:spPr>
        <p:txBody>
          <a:bodyPr wrap="square">
            <a:spAutoFit/>
          </a:bodyPr>
          <a:lstStyle/>
          <a:p>
            <a:pPr algn="ctr">
              <a:lnSpc>
                <a:spcPts val="955"/>
              </a:lnSpc>
              <a:spcBef>
                <a:spcPts val="95"/>
              </a:spcBef>
            </a:pPr>
            <a:r>
              <a:rPr lang="en-US" sz="1050" b="1" spc="10" dirty="0">
                <a:latin typeface="Times New Roman" panose="02020603050405020304" pitchFamily="18" charset="0"/>
                <a:cs typeface="Times New Roman" panose="02020603050405020304" pitchFamily="18" charset="0"/>
              </a:rPr>
              <a:t>PRESENTED</a:t>
            </a:r>
            <a:r>
              <a:rPr lang="en-US" sz="1050" b="1" spc="25" dirty="0">
                <a:latin typeface="Times New Roman" panose="02020603050405020304" pitchFamily="18" charset="0"/>
                <a:cs typeface="Times New Roman" panose="02020603050405020304" pitchFamily="18" charset="0"/>
              </a:rPr>
              <a:t> BY</a:t>
            </a:r>
            <a:endParaRPr lang="en-US" sz="1050" dirty="0">
              <a:latin typeface="Times New Roman" panose="02020603050405020304" pitchFamily="18" charset="0"/>
              <a:cs typeface="Times New Roman" panose="02020603050405020304" pitchFamily="18" charset="0"/>
            </a:endParaRPr>
          </a:p>
        </p:txBody>
      </p:sp>
      <p:graphicFrame>
        <p:nvGraphicFramePr>
          <p:cNvPr id="24" name="Table 23">
            <a:extLst>
              <a:ext uri="{FF2B5EF4-FFF2-40B4-BE49-F238E27FC236}">
                <a16:creationId xmlns:a16="http://schemas.microsoft.com/office/drawing/2014/main" id="{C4EBD820-4269-E52D-0579-DE25440A6B75}"/>
              </a:ext>
            </a:extLst>
          </p:cNvPr>
          <p:cNvGraphicFramePr>
            <a:graphicFrameLocks noGrp="1"/>
          </p:cNvGraphicFramePr>
          <p:nvPr>
            <p:extLst>
              <p:ext uri="{D42A27DB-BD31-4B8C-83A1-F6EECF244321}">
                <p14:modId xmlns:p14="http://schemas.microsoft.com/office/powerpoint/2010/main" val="2120515718"/>
              </p:ext>
            </p:extLst>
          </p:nvPr>
        </p:nvGraphicFramePr>
        <p:xfrm>
          <a:off x="1068979" y="2235758"/>
          <a:ext cx="3073400" cy="701040"/>
        </p:xfrm>
        <a:graphic>
          <a:graphicData uri="http://schemas.openxmlformats.org/drawingml/2006/table">
            <a:tbl>
              <a:tblPr firstRow="1" bandRow="1">
                <a:tableStyleId>{2D5ABB26-0587-4C30-8999-92F81FD0307C}</a:tableStyleId>
              </a:tblPr>
              <a:tblGrid>
                <a:gridCol w="1536700">
                  <a:extLst>
                    <a:ext uri="{9D8B030D-6E8A-4147-A177-3AD203B41FA5}">
                      <a16:colId xmlns:a16="http://schemas.microsoft.com/office/drawing/2014/main" val="2341227175"/>
                    </a:ext>
                  </a:extLst>
                </a:gridCol>
                <a:gridCol w="1536700">
                  <a:extLst>
                    <a:ext uri="{9D8B030D-6E8A-4147-A177-3AD203B41FA5}">
                      <a16:colId xmlns:a16="http://schemas.microsoft.com/office/drawing/2014/main" val="3936408089"/>
                    </a:ext>
                  </a:extLst>
                </a:gridCol>
              </a:tblGrid>
              <a:tr h="168911">
                <a:tc>
                  <a:txBody>
                    <a:bodyPr/>
                    <a:lstStyle/>
                    <a:p>
                      <a:r>
                        <a:rPr lang="en-US" sz="900" b="0" dirty="0"/>
                        <a:t>Pawar Soham</a:t>
                      </a:r>
                    </a:p>
                    <a:p>
                      <a:r>
                        <a:rPr lang="en-US" sz="900" b="0" dirty="0" err="1"/>
                        <a:t>Paitwar</a:t>
                      </a:r>
                      <a:r>
                        <a:rPr lang="en-US" sz="900" b="0" dirty="0"/>
                        <a:t> Dattatray</a:t>
                      </a:r>
                    </a:p>
                    <a:p>
                      <a:r>
                        <a:rPr lang="en-US" sz="900" b="0" dirty="0" err="1"/>
                        <a:t>Kangude</a:t>
                      </a:r>
                      <a:r>
                        <a:rPr lang="en-US" sz="900" b="0" dirty="0"/>
                        <a:t> Samruddhi </a:t>
                      </a:r>
                    </a:p>
                    <a:p>
                      <a:r>
                        <a:rPr lang="en-US" sz="900" b="0" dirty="0"/>
                        <a:t>Magar Aditi</a:t>
                      </a:r>
                      <a:endParaRPr lang="en-US" sz="900" b="0" dirty="0">
                        <a:latin typeface="Times New Roman" panose="02020603050405020304" pitchFamily="18" charset="0"/>
                        <a:cs typeface="Times New Roman" panose="02020603050405020304" pitchFamily="18" charset="0"/>
                      </a:endParaRPr>
                    </a:p>
                  </a:txBody>
                  <a:tcPr/>
                </a:tc>
                <a:tc>
                  <a:txBody>
                    <a:bodyPr/>
                    <a:lstStyle/>
                    <a:p>
                      <a:r>
                        <a:rPr lang="en-US" sz="1000" b="0" dirty="0"/>
                        <a:t>B400700155</a:t>
                      </a:r>
                    </a:p>
                    <a:p>
                      <a:pPr marL="0" marR="0" lvl="0" indent="0" defTabSz="914400" eaLnBrk="1" fontAlgn="auto" latinLnBrk="0" hangingPunct="1">
                        <a:lnSpc>
                          <a:spcPct val="100000"/>
                        </a:lnSpc>
                        <a:spcBef>
                          <a:spcPts val="0"/>
                        </a:spcBef>
                        <a:spcAft>
                          <a:spcPts val="0"/>
                        </a:spcAft>
                        <a:buClrTx/>
                        <a:buSzTx/>
                        <a:buFontTx/>
                        <a:buNone/>
                        <a:tabLst/>
                        <a:defRPr/>
                      </a:pPr>
                      <a:r>
                        <a:rPr lang="en-US" sz="1000" b="0" dirty="0"/>
                        <a:t>B400700154</a:t>
                      </a:r>
                    </a:p>
                    <a:p>
                      <a:pPr marL="0" marR="0" lvl="0" indent="0" defTabSz="914400" eaLnBrk="1" fontAlgn="auto" latinLnBrk="0" hangingPunct="1">
                        <a:lnSpc>
                          <a:spcPct val="100000"/>
                        </a:lnSpc>
                        <a:spcBef>
                          <a:spcPts val="0"/>
                        </a:spcBef>
                        <a:spcAft>
                          <a:spcPts val="0"/>
                        </a:spcAft>
                        <a:buClrTx/>
                        <a:buSzTx/>
                        <a:buFontTx/>
                        <a:buNone/>
                        <a:tabLst/>
                        <a:defRPr/>
                      </a:pPr>
                      <a:r>
                        <a:rPr lang="en-US" sz="1000" b="0" dirty="0"/>
                        <a:t>B400700155</a:t>
                      </a:r>
                    </a:p>
                    <a:p>
                      <a:pPr marL="0" marR="0" lvl="0" indent="0" defTabSz="914400" eaLnBrk="1" fontAlgn="auto" latinLnBrk="0" hangingPunct="1">
                        <a:lnSpc>
                          <a:spcPct val="100000"/>
                        </a:lnSpc>
                        <a:spcBef>
                          <a:spcPts val="0"/>
                        </a:spcBef>
                        <a:spcAft>
                          <a:spcPts val="0"/>
                        </a:spcAft>
                        <a:buClrTx/>
                        <a:buSzTx/>
                        <a:buFontTx/>
                        <a:buNone/>
                        <a:tabLst/>
                        <a:defRPr/>
                      </a:pPr>
                      <a:r>
                        <a:rPr lang="en-US" sz="1000" b="0" dirty="0"/>
                        <a:t>B400700155</a:t>
                      </a:r>
                    </a:p>
                  </a:txBody>
                  <a:tcPr/>
                </a:tc>
                <a:extLst>
                  <a:ext uri="{0D108BD9-81ED-4DB2-BD59-A6C34878D82A}">
                    <a16:rowId xmlns:a16="http://schemas.microsoft.com/office/drawing/2014/main" val="1888756718"/>
                  </a:ext>
                </a:extLst>
              </a:tr>
            </a:tbl>
          </a:graphicData>
        </a:graphic>
      </p:graphicFrame>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635000" cy="244475"/>
          </a:xfrm>
          <a:prstGeom prst="rect">
            <a:avLst/>
          </a:prstGeom>
        </p:spPr>
        <p:txBody>
          <a:bodyPr vert="horz" wrap="square" lIns="0" tIns="17145" rIns="0" bIns="0" rtlCol="0">
            <a:spAutoFit/>
          </a:bodyPr>
          <a:lstStyle/>
          <a:p>
            <a:pPr marL="12700">
              <a:lnSpc>
                <a:spcPct val="100000"/>
              </a:lnSpc>
              <a:spcBef>
                <a:spcPts val="135"/>
              </a:spcBef>
            </a:pPr>
            <a:r>
              <a:rPr b="1" spc="-5" dirty="0">
                <a:latin typeface="Arial"/>
                <a:cs typeface="Arial"/>
              </a:rPr>
              <a:t>Outline</a:t>
            </a:r>
          </a:p>
        </p:txBody>
      </p:sp>
      <p:pic>
        <p:nvPicPr>
          <p:cNvPr id="3" name="object 3"/>
          <p:cNvPicPr/>
          <p:nvPr/>
        </p:nvPicPr>
        <p:blipFill>
          <a:blip r:embed="rId2" cstate="print"/>
          <a:stretch>
            <a:fillRect/>
          </a:stretch>
        </p:blipFill>
        <p:spPr>
          <a:xfrm>
            <a:off x="281089" y="471170"/>
            <a:ext cx="65265" cy="65265"/>
          </a:xfrm>
          <a:prstGeom prst="rect">
            <a:avLst/>
          </a:prstGeom>
        </p:spPr>
      </p:pic>
      <p:sp>
        <p:nvSpPr>
          <p:cNvPr id="4" name="object 4"/>
          <p:cNvSpPr txBox="1"/>
          <p:nvPr/>
        </p:nvSpPr>
        <p:spPr>
          <a:xfrm>
            <a:off x="402932" y="364944"/>
            <a:ext cx="1384300" cy="2701573"/>
          </a:xfrm>
          <a:prstGeom prst="rect">
            <a:avLst/>
          </a:prstGeom>
        </p:spPr>
        <p:txBody>
          <a:bodyPr vert="horz" wrap="square" lIns="0" tIns="12700" rIns="0" bIns="0" rtlCol="0">
            <a:spAutoFit/>
          </a:bodyPr>
          <a:lstStyle/>
          <a:p>
            <a:pPr marL="12700" marR="236854">
              <a:lnSpc>
                <a:spcPct val="112799"/>
              </a:lnSpc>
              <a:spcBef>
                <a:spcPts val="100"/>
              </a:spcBef>
            </a:pPr>
            <a:r>
              <a:rPr sz="1100" spc="-35" dirty="0">
                <a:latin typeface="Times New Roman" panose="02020603050405020304" pitchFamily="18" charset="0"/>
                <a:cs typeface="Times New Roman" panose="02020603050405020304" pitchFamily="18" charset="0"/>
              </a:rPr>
              <a:t>Introduction </a:t>
            </a:r>
            <a:r>
              <a:rPr sz="1100" spc="-30" dirty="0">
                <a:latin typeface="Times New Roman" panose="02020603050405020304" pitchFamily="18" charset="0"/>
                <a:cs typeface="Times New Roman" panose="02020603050405020304" pitchFamily="18" charset="0"/>
              </a:rPr>
              <a:t> </a:t>
            </a:r>
            <a:endParaRPr lang="en-US" sz="1100" spc="-30" dirty="0">
              <a:latin typeface="Times New Roman" panose="02020603050405020304" pitchFamily="18" charset="0"/>
              <a:cs typeface="Times New Roman" panose="02020603050405020304" pitchFamily="18" charset="0"/>
            </a:endParaRPr>
          </a:p>
          <a:p>
            <a:pPr marL="12700" marR="236854">
              <a:lnSpc>
                <a:spcPct val="112799"/>
              </a:lnSpc>
              <a:spcBef>
                <a:spcPts val="100"/>
              </a:spcBef>
            </a:pPr>
            <a:r>
              <a:rPr lang="en-IN" sz="1100" spc="-30" dirty="0">
                <a:latin typeface="Times New Roman" panose="02020603050405020304" pitchFamily="18" charset="0"/>
                <a:cs typeface="Times New Roman" panose="02020603050405020304" pitchFamily="18" charset="0"/>
              </a:rPr>
              <a:t>Problem Statement </a:t>
            </a:r>
            <a:endParaRPr lang="en-US" sz="1100" spc="-30" dirty="0">
              <a:latin typeface="Times New Roman" panose="02020603050405020304" pitchFamily="18" charset="0"/>
              <a:cs typeface="Times New Roman" panose="02020603050405020304" pitchFamily="18" charset="0"/>
            </a:endParaRPr>
          </a:p>
          <a:p>
            <a:pPr marL="12700" marR="236854">
              <a:lnSpc>
                <a:spcPct val="112799"/>
              </a:lnSpc>
              <a:spcBef>
                <a:spcPts val="100"/>
              </a:spcBef>
            </a:pPr>
            <a:r>
              <a:rPr sz="1100" spc="-330" dirty="0">
                <a:latin typeface="Times New Roman" panose="02020603050405020304" pitchFamily="18" charset="0"/>
                <a:cs typeface="Times New Roman" panose="02020603050405020304" pitchFamily="18" charset="0"/>
              </a:rPr>
              <a:t> </a:t>
            </a:r>
            <a:r>
              <a:rPr sz="1100" spc="-40" dirty="0">
                <a:latin typeface="Times New Roman" panose="02020603050405020304" pitchFamily="18" charset="0"/>
                <a:cs typeface="Times New Roman" panose="02020603050405020304" pitchFamily="18" charset="0"/>
              </a:rPr>
              <a:t>Scope</a:t>
            </a:r>
            <a:endParaRPr sz="1100" dirty="0">
              <a:latin typeface="Times New Roman" panose="02020603050405020304" pitchFamily="18" charset="0"/>
              <a:cs typeface="Times New Roman" panose="02020603050405020304" pitchFamily="18" charset="0"/>
            </a:endParaRPr>
          </a:p>
          <a:p>
            <a:pPr marL="12700" marR="735330">
              <a:lnSpc>
                <a:spcPct val="112799"/>
              </a:lnSpc>
            </a:pPr>
            <a:r>
              <a:rPr sz="1100" spc="-50" dirty="0">
                <a:latin typeface="Times New Roman" panose="02020603050405020304" pitchFamily="18" charset="0"/>
                <a:cs typeface="Times New Roman" panose="02020603050405020304" pitchFamily="18" charset="0"/>
              </a:rPr>
              <a:t>Need </a:t>
            </a:r>
            <a:r>
              <a:rPr sz="1100" spc="-45" dirty="0">
                <a:latin typeface="Times New Roman" panose="02020603050405020304" pitchFamily="18" charset="0"/>
                <a:cs typeface="Times New Roman" panose="02020603050405020304" pitchFamily="18" charset="0"/>
              </a:rPr>
              <a:t> </a:t>
            </a:r>
            <a:r>
              <a:rPr sz="1100" spc="-10" dirty="0">
                <a:latin typeface="Times New Roman" panose="02020603050405020304" pitchFamily="18" charset="0"/>
                <a:cs typeface="Times New Roman" panose="02020603050405020304" pitchFamily="18" charset="0"/>
              </a:rPr>
              <a:t>Motivation</a:t>
            </a:r>
            <a:endParaRPr sz="1100" dirty="0">
              <a:latin typeface="Times New Roman" panose="02020603050405020304" pitchFamily="18" charset="0"/>
              <a:cs typeface="Times New Roman" panose="02020603050405020304" pitchFamily="18" charset="0"/>
            </a:endParaRPr>
          </a:p>
          <a:p>
            <a:pPr marL="12700" marR="101600">
              <a:lnSpc>
                <a:spcPct val="112799"/>
              </a:lnSpc>
            </a:pPr>
            <a:r>
              <a:rPr sz="1100" spc="-25" dirty="0">
                <a:latin typeface="Times New Roman" panose="02020603050405020304" pitchFamily="18" charset="0"/>
                <a:cs typeface="Times New Roman" panose="02020603050405020304" pitchFamily="18" charset="0"/>
              </a:rPr>
              <a:t>Liter</a:t>
            </a:r>
            <a:r>
              <a:rPr lang="en-US" sz="1100" spc="-25" dirty="0">
                <a:latin typeface="Times New Roman" panose="02020603050405020304" pitchFamily="18" charset="0"/>
                <a:cs typeface="Times New Roman" panose="02020603050405020304" pitchFamily="18" charset="0"/>
              </a:rPr>
              <a:t>ature</a:t>
            </a:r>
            <a:r>
              <a:rPr lang="en-US" sz="1100" spc="5" dirty="0">
                <a:latin typeface="Times New Roman" panose="02020603050405020304" pitchFamily="18" charset="0"/>
                <a:cs typeface="Times New Roman" panose="02020603050405020304" pitchFamily="18" charset="0"/>
              </a:rPr>
              <a:t> </a:t>
            </a:r>
            <a:r>
              <a:rPr lang="en-US" sz="1100" spc="-45" dirty="0">
                <a:latin typeface="Times New Roman" panose="02020603050405020304" pitchFamily="18" charset="0"/>
                <a:cs typeface="Times New Roman" panose="02020603050405020304" pitchFamily="18" charset="0"/>
              </a:rPr>
              <a:t>Survey </a:t>
            </a:r>
          </a:p>
          <a:p>
            <a:pPr marL="12700" marR="101600">
              <a:lnSpc>
                <a:spcPct val="112799"/>
              </a:lnSpc>
            </a:pPr>
            <a:r>
              <a:rPr lang="en-US" sz="1100" spc="-45" dirty="0">
                <a:latin typeface="Times New Roman" panose="02020603050405020304" pitchFamily="18" charset="0"/>
                <a:cs typeface="Times New Roman" panose="02020603050405020304" pitchFamily="18" charset="0"/>
              </a:rPr>
              <a:t>Architectural Diagram</a:t>
            </a:r>
          </a:p>
          <a:p>
            <a:pPr marL="12700" marR="101600">
              <a:lnSpc>
                <a:spcPct val="112799"/>
              </a:lnSpc>
            </a:pPr>
            <a:r>
              <a:rPr sz="1100" spc="-40" dirty="0">
                <a:latin typeface="Times New Roman" panose="02020603050405020304" pitchFamily="18" charset="0"/>
                <a:cs typeface="Times New Roman" panose="02020603050405020304" pitchFamily="18" charset="0"/>
              </a:rPr>
              <a:t> </a:t>
            </a:r>
            <a:r>
              <a:rPr sz="1100" spc="-20" dirty="0">
                <a:latin typeface="Times New Roman" panose="02020603050405020304" pitchFamily="18" charset="0"/>
                <a:cs typeface="Times New Roman" panose="02020603050405020304" pitchFamily="18" charset="0"/>
              </a:rPr>
              <a:t>Mathematical</a:t>
            </a:r>
            <a:r>
              <a:rPr sz="1100" spc="-15" dirty="0">
                <a:latin typeface="Times New Roman" panose="02020603050405020304" pitchFamily="18" charset="0"/>
                <a:cs typeface="Times New Roman" panose="02020603050405020304" pitchFamily="18" charset="0"/>
              </a:rPr>
              <a:t> </a:t>
            </a:r>
            <a:r>
              <a:rPr sz="1100" spc="-10" dirty="0">
                <a:latin typeface="Times New Roman" panose="02020603050405020304" pitchFamily="18" charset="0"/>
                <a:cs typeface="Times New Roman" panose="02020603050405020304" pitchFamily="18" charset="0"/>
              </a:rPr>
              <a:t>Model </a:t>
            </a:r>
            <a:r>
              <a:rPr sz="1100" spc="-5" dirty="0">
                <a:latin typeface="Times New Roman" panose="02020603050405020304" pitchFamily="18" charset="0"/>
                <a:cs typeface="Times New Roman" panose="02020603050405020304" pitchFamily="18" charset="0"/>
              </a:rPr>
              <a:t> </a:t>
            </a:r>
            <a:r>
              <a:rPr sz="1100" spc="-20" dirty="0">
                <a:latin typeface="Times New Roman" panose="02020603050405020304" pitchFamily="18" charset="0"/>
                <a:cs typeface="Times New Roman" panose="02020603050405020304" pitchFamily="18" charset="0"/>
              </a:rPr>
              <a:t>Algorithmic </a:t>
            </a:r>
            <a:r>
              <a:rPr sz="1100" spc="-35" dirty="0">
                <a:latin typeface="Times New Roman" panose="02020603050405020304" pitchFamily="18" charset="0"/>
                <a:cs typeface="Times New Roman" panose="02020603050405020304" pitchFamily="18" charset="0"/>
              </a:rPr>
              <a:t>Approach </a:t>
            </a:r>
            <a:endParaRPr lang="en-US" sz="1100" spc="-35" dirty="0">
              <a:latin typeface="Times New Roman" panose="02020603050405020304" pitchFamily="18" charset="0"/>
              <a:cs typeface="Times New Roman" panose="02020603050405020304" pitchFamily="18" charset="0"/>
            </a:endParaRPr>
          </a:p>
          <a:p>
            <a:pPr marL="12700" marR="101600">
              <a:lnSpc>
                <a:spcPct val="112799"/>
              </a:lnSpc>
            </a:pPr>
            <a:r>
              <a:rPr sz="1100" spc="-330" dirty="0">
                <a:latin typeface="Times New Roman" panose="02020603050405020304" pitchFamily="18" charset="0"/>
                <a:cs typeface="Times New Roman" panose="02020603050405020304" pitchFamily="18" charset="0"/>
              </a:rPr>
              <a:t> </a:t>
            </a:r>
            <a:r>
              <a:rPr sz="1100" spc="-30" dirty="0">
                <a:latin typeface="Times New Roman" panose="02020603050405020304" pitchFamily="18" charset="0"/>
                <a:cs typeface="Times New Roman" panose="02020603050405020304" pitchFamily="18" charset="0"/>
              </a:rPr>
              <a:t>Dataset </a:t>
            </a:r>
            <a:r>
              <a:rPr sz="1100" spc="-25" dirty="0">
                <a:latin typeface="Times New Roman" panose="02020603050405020304" pitchFamily="18" charset="0"/>
                <a:cs typeface="Times New Roman" panose="02020603050405020304" pitchFamily="18" charset="0"/>
              </a:rPr>
              <a:t> </a:t>
            </a:r>
            <a:r>
              <a:rPr lang="en-US" sz="1100" spc="-25" dirty="0">
                <a:latin typeface="Times New Roman" panose="02020603050405020304" pitchFamily="18" charset="0"/>
                <a:cs typeface="Times New Roman" panose="02020603050405020304" pitchFamily="18" charset="0"/>
              </a:rPr>
              <a:t>Used </a:t>
            </a:r>
          </a:p>
          <a:p>
            <a:pPr marL="12700" marR="101600">
              <a:lnSpc>
                <a:spcPct val="112799"/>
              </a:lnSpc>
            </a:pPr>
            <a:r>
              <a:rPr sz="1100" spc="-35" dirty="0">
                <a:latin typeface="Times New Roman" panose="02020603050405020304" pitchFamily="18" charset="0"/>
                <a:cs typeface="Times New Roman" panose="02020603050405020304" pitchFamily="18" charset="0"/>
              </a:rPr>
              <a:t>Environmental</a:t>
            </a:r>
            <a:r>
              <a:rPr sz="1100" spc="-5" dirty="0">
                <a:latin typeface="Times New Roman" panose="02020603050405020304" pitchFamily="18" charset="0"/>
                <a:cs typeface="Times New Roman" panose="02020603050405020304" pitchFamily="18" charset="0"/>
              </a:rPr>
              <a:t> </a:t>
            </a:r>
            <a:r>
              <a:rPr sz="1100" spc="-35" dirty="0">
                <a:latin typeface="Times New Roman" panose="02020603050405020304" pitchFamily="18" charset="0"/>
                <a:cs typeface="Times New Roman" panose="02020603050405020304" pitchFamily="18" charset="0"/>
              </a:rPr>
              <a:t>Setup</a:t>
            </a:r>
            <a:endParaRPr sz="1100" dirty="0">
              <a:latin typeface="Times New Roman" panose="02020603050405020304" pitchFamily="18" charset="0"/>
              <a:cs typeface="Times New Roman" panose="02020603050405020304" pitchFamily="18" charset="0"/>
            </a:endParaRPr>
          </a:p>
          <a:p>
            <a:pPr marL="12700" marR="5080">
              <a:lnSpc>
                <a:spcPct val="112799"/>
              </a:lnSpc>
            </a:pPr>
            <a:r>
              <a:rPr sz="1100" spc="-325" dirty="0">
                <a:latin typeface="Times New Roman" panose="02020603050405020304" pitchFamily="18" charset="0"/>
                <a:cs typeface="Times New Roman" panose="02020603050405020304" pitchFamily="18" charset="0"/>
              </a:rPr>
              <a:t> </a:t>
            </a:r>
            <a:r>
              <a:rPr sz="1100" spc="-30" dirty="0">
                <a:latin typeface="Times New Roman" panose="02020603050405020304" pitchFamily="18" charset="0"/>
                <a:cs typeface="Times New Roman" panose="02020603050405020304" pitchFamily="18" charset="0"/>
              </a:rPr>
              <a:t>Result</a:t>
            </a:r>
            <a:endParaRPr sz="1100" dirty="0">
              <a:latin typeface="Times New Roman" panose="02020603050405020304" pitchFamily="18" charset="0"/>
              <a:cs typeface="Times New Roman" panose="02020603050405020304" pitchFamily="18" charset="0"/>
            </a:endParaRPr>
          </a:p>
          <a:p>
            <a:pPr marL="12700" marR="741045">
              <a:lnSpc>
                <a:spcPct val="112799"/>
              </a:lnSpc>
            </a:pPr>
            <a:r>
              <a:rPr sz="1100" spc="-35" dirty="0">
                <a:latin typeface="Times New Roman" panose="02020603050405020304" pitchFamily="18" charset="0"/>
                <a:cs typeface="Times New Roman" panose="02020603050405020304" pitchFamily="18" charset="0"/>
              </a:rPr>
              <a:t>Conclusion  </a:t>
            </a:r>
            <a:r>
              <a:rPr sz="1100" spc="-55" dirty="0">
                <a:latin typeface="Times New Roman" panose="02020603050405020304" pitchFamily="18" charset="0"/>
                <a:cs typeface="Times New Roman" panose="02020603050405020304" pitchFamily="18" charset="0"/>
              </a:rPr>
              <a:t>References</a:t>
            </a:r>
            <a:endParaRPr sz="1100" dirty="0">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281089" y="660184"/>
            <a:ext cx="65265" cy="65265"/>
          </a:xfrm>
          <a:prstGeom prst="rect">
            <a:avLst/>
          </a:prstGeom>
        </p:spPr>
      </p:pic>
      <p:pic>
        <p:nvPicPr>
          <p:cNvPr id="6" name="object 6"/>
          <p:cNvPicPr/>
          <p:nvPr/>
        </p:nvPicPr>
        <p:blipFill>
          <a:blip r:embed="rId3" cstate="print"/>
          <a:stretch>
            <a:fillRect/>
          </a:stretch>
        </p:blipFill>
        <p:spPr>
          <a:xfrm>
            <a:off x="281089" y="849210"/>
            <a:ext cx="65265" cy="65265"/>
          </a:xfrm>
          <a:prstGeom prst="rect">
            <a:avLst/>
          </a:prstGeom>
        </p:spPr>
      </p:pic>
      <p:pic>
        <p:nvPicPr>
          <p:cNvPr id="7" name="object 7"/>
          <p:cNvPicPr/>
          <p:nvPr/>
        </p:nvPicPr>
        <p:blipFill>
          <a:blip r:embed="rId2" cstate="print"/>
          <a:stretch>
            <a:fillRect/>
          </a:stretch>
        </p:blipFill>
        <p:spPr>
          <a:xfrm>
            <a:off x="281089" y="1038237"/>
            <a:ext cx="65265" cy="65265"/>
          </a:xfrm>
          <a:prstGeom prst="rect">
            <a:avLst/>
          </a:prstGeom>
        </p:spPr>
      </p:pic>
      <p:pic>
        <p:nvPicPr>
          <p:cNvPr id="8" name="object 8"/>
          <p:cNvPicPr/>
          <p:nvPr/>
        </p:nvPicPr>
        <p:blipFill>
          <a:blip r:embed="rId2" cstate="print"/>
          <a:stretch>
            <a:fillRect/>
          </a:stretch>
        </p:blipFill>
        <p:spPr>
          <a:xfrm>
            <a:off x="281089" y="1227251"/>
            <a:ext cx="65265" cy="65265"/>
          </a:xfrm>
          <a:prstGeom prst="rect">
            <a:avLst/>
          </a:prstGeom>
        </p:spPr>
      </p:pic>
      <p:pic>
        <p:nvPicPr>
          <p:cNvPr id="9" name="object 9"/>
          <p:cNvPicPr/>
          <p:nvPr/>
        </p:nvPicPr>
        <p:blipFill>
          <a:blip r:embed="rId4" cstate="print"/>
          <a:stretch>
            <a:fillRect/>
          </a:stretch>
        </p:blipFill>
        <p:spPr>
          <a:xfrm>
            <a:off x="281089" y="1416278"/>
            <a:ext cx="65265" cy="65265"/>
          </a:xfrm>
          <a:prstGeom prst="rect">
            <a:avLst/>
          </a:prstGeom>
        </p:spPr>
      </p:pic>
      <p:pic>
        <p:nvPicPr>
          <p:cNvPr id="10" name="object 10"/>
          <p:cNvPicPr/>
          <p:nvPr/>
        </p:nvPicPr>
        <p:blipFill>
          <a:blip r:embed="rId2" cstate="print"/>
          <a:stretch>
            <a:fillRect/>
          </a:stretch>
        </p:blipFill>
        <p:spPr>
          <a:xfrm>
            <a:off x="281089" y="1605305"/>
            <a:ext cx="65265" cy="65265"/>
          </a:xfrm>
          <a:prstGeom prst="rect">
            <a:avLst/>
          </a:prstGeom>
        </p:spPr>
      </p:pic>
      <p:pic>
        <p:nvPicPr>
          <p:cNvPr id="11" name="object 11"/>
          <p:cNvPicPr/>
          <p:nvPr/>
        </p:nvPicPr>
        <p:blipFill>
          <a:blip r:embed="rId2" cstate="print"/>
          <a:stretch>
            <a:fillRect/>
          </a:stretch>
        </p:blipFill>
        <p:spPr>
          <a:xfrm>
            <a:off x="281089" y="1794332"/>
            <a:ext cx="65265" cy="65265"/>
          </a:xfrm>
          <a:prstGeom prst="rect">
            <a:avLst/>
          </a:prstGeom>
        </p:spPr>
      </p:pic>
      <p:pic>
        <p:nvPicPr>
          <p:cNvPr id="12" name="object 12"/>
          <p:cNvPicPr/>
          <p:nvPr/>
        </p:nvPicPr>
        <p:blipFill>
          <a:blip r:embed="rId3" cstate="print"/>
          <a:stretch>
            <a:fillRect/>
          </a:stretch>
        </p:blipFill>
        <p:spPr>
          <a:xfrm>
            <a:off x="281089" y="1983346"/>
            <a:ext cx="65265" cy="65265"/>
          </a:xfrm>
          <a:prstGeom prst="rect">
            <a:avLst/>
          </a:prstGeom>
        </p:spPr>
      </p:pic>
      <p:pic>
        <p:nvPicPr>
          <p:cNvPr id="13" name="object 13"/>
          <p:cNvPicPr/>
          <p:nvPr/>
        </p:nvPicPr>
        <p:blipFill>
          <a:blip r:embed="rId2" cstate="print"/>
          <a:stretch>
            <a:fillRect/>
          </a:stretch>
        </p:blipFill>
        <p:spPr>
          <a:xfrm>
            <a:off x="281089" y="2172373"/>
            <a:ext cx="65265" cy="65265"/>
          </a:xfrm>
          <a:prstGeom prst="rect">
            <a:avLst/>
          </a:prstGeom>
        </p:spPr>
      </p:pic>
      <p:pic>
        <p:nvPicPr>
          <p:cNvPr id="14" name="object 14"/>
          <p:cNvPicPr/>
          <p:nvPr/>
        </p:nvPicPr>
        <p:blipFill>
          <a:blip r:embed="rId2" cstate="print"/>
          <a:stretch>
            <a:fillRect/>
          </a:stretch>
        </p:blipFill>
        <p:spPr>
          <a:xfrm>
            <a:off x="281089" y="2361400"/>
            <a:ext cx="65265" cy="65265"/>
          </a:xfrm>
          <a:prstGeom prst="rect">
            <a:avLst/>
          </a:prstGeom>
        </p:spPr>
      </p:pic>
      <p:pic>
        <p:nvPicPr>
          <p:cNvPr id="15" name="object 15"/>
          <p:cNvPicPr/>
          <p:nvPr/>
        </p:nvPicPr>
        <p:blipFill>
          <a:blip r:embed="rId2" cstate="print"/>
          <a:stretch>
            <a:fillRect/>
          </a:stretch>
        </p:blipFill>
        <p:spPr>
          <a:xfrm>
            <a:off x="281089" y="2550414"/>
            <a:ext cx="65265" cy="65265"/>
          </a:xfrm>
          <a:prstGeom prst="rect">
            <a:avLst/>
          </a:prstGeom>
        </p:spPr>
      </p:pic>
      <p:pic>
        <p:nvPicPr>
          <p:cNvPr id="16" name="object 16"/>
          <p:cNvPicPr/>
          <p:nvPr/>
        </p:nvPicPr>
        <p:blipFill>
          <a:blip r:embed="rId3" cstate="print"/>
          <a:stretch>
            <a:fillRect/>
          </a:stretch>
        </p:blipFill>
        <p:spPr>
          <a:xfrm>
            <a:off x="281089" y="2739440"/>
            <a:ext cx="65265" cy="65265"/>
          </a:xfrm>
          <a:prstGeom prst="rect">
            <a:avLst/>
          </a:prstGeom>
        </p:spPr>
      </p:pic>
      <p:grpSp>
        <p:nvGrpSpPr>
          <p:cNvPr id="19" name="object 19"/>
          <p:cNvGrpSpPr/>
          <p:nvPr/>
        </p:nvGrpSpPr>
        <p:grpSpPr>
          <a:xfrm>
            <a:off x="0" y="3287306"/>
            <a:ext cx="4608195" cy="168910"/>
            <a:chOff x="0" y="3287306"/>
            <a:chExt cx="4608195" cy="168910"/>
          </a:xfrm>
        </p:grpSpPr>
        <p:sp>
          <p:nvSpPr>
            <p:cNvPr id="20" name="object 20"/>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p>
          </p:txBody>
        </p:sp>
        <p:sp>
          <p:nvSpPr>
            <p:cNvPr id="21" name="object 21"/>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p>
          </p:txBody>
        </p:sp>
        <p:sp>
          <p:nvSpPr>
            <p:cNvPr id="22" name="object 22"/>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p>
          </p:txBody>
        </p:sp>
      </p:grpSp>
      <p:sp>
        <p:nvSpPr>
          <p:cNvPr id="25" name="object 25"/>
          <p:cNvSpPr txBox="1">
            <a:spLocks noGrp="1"/>
          </p:cNvSpPr>
          <p:nvPr>
            <p:ph type="ftr" sz="quarter" idx="5"/>
          </p:nvPr>
        </p:nvSpPr>
        <p:spPr>
          <a:xfrm>
            <a:off x="1504695" y="3315372"/>
            <a:ext cx="2050896" cy="89768"/>
          </a:xfrm>
          <a:prstGeom prst="rect">
            <a:avLst/>
          </a:prstGeom>
        </p:spPr>
        <p:txBody>
          <a:bodyPr vert="horz" wrap="square" lIns="0" tIns="0" rIns="0" bIns="0" rtlCol="0">
            <a:spAutoFit/>
          </a:bodyPr>
          <a:lstStyle/>
          <a:p>
            <a:pPr marL="12700">
              <a:lnSpc>
                <a:spcPts val="675"/>
              </a:lnSpc>
            </a:pPr>
            <a:r>
              <a:rPr lang="en-US" dirty="0"/>
              <a:t>YojanaBench: Scheme Document Reasoning</a:t>
            </a:r>
            <a:endParaRPr spc="-15" dirty="0"/>
          </a:p>
        </p:txBody>
      </p:sp>
      <p:sp>
        <p:nvSpPr>
          <p:cNvPr id="26" name="object 26"/>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t>2</a:t>
            </a:fld>
            <a:r>
              <a:rPr spc="-10" dirty="0"/>
              <a:t> </a:t>
            </a:r>
            <a:r>
              <a:rPr spc="85" dirty="0"/>
              <a:t>/</a:t>
            </a:r>
            <a:r>
              <a:rPr spc="-5" dirty="0"/>
              <a:t> </a:t>
            </a:r>
            <a:r>
              <a:rPr lang="en-US" spc="-15" dirty="0"/>
              <a:t>29</a:t>
            </a:r>
            <a:endParaRPr spc="-15" dirty="0"/>
          </a:p>
        </p:txBody>
      </p:sp>
      <p:pic>
        <p:nvPicPr>
          <p:cNvPr id="17" name="object 16">
            <a:extLst>
              <a:ext uri="{FF2B5EF4-FFF2-40B4-BE49-F238E27FC236}">
                <a16:creationId xmlns:a16="http://schemas.microsoft.com/office/drawing/2014/main" id="{6B8B0C30-A048-678F-CE94-C76FCD1F7D3B}"/>
              </a:ext>
            </a:extLst>
          </p:cNvPr>
          <p:cNvPicPr/>
          <p:nvPr/>
        </p:nvPicPr>
        <p:blipFill>
          <a:blip r:embed="rId3" cstate="print"/>
          <a:stretch>
            <a:fillRect/>
          </a:stretch>
        </p:blipFill>
        <p:spPr>
          <a:xfrm>
            <a:off x="281088" y="2956947"/>
            <a:ext cx="65265" cy="65265"/>
          </a:xfrm>
          <a:prstGeom prst="rect">
            <a:avLst/>
          </a:prstGeom>
        </p:spPr>
      </p:pic>
      <p:sp>
        <p:nvSpPr>
          <p:cNvPr id="18" name="object 21">
            <a:extLst>
              <a:ext uri="{FF2B5EF4-FFF2-40B4-BE49-F238E27FC236}">
                <a16:creationId xmlns:a16="http://schemas.microsoft.com/office/drawing/2014/main" id="{3D2789CE-272A-160A-80DB-72726A5D7B7A}"/>
              </a:ext>
            </a:extLst>
          </p:cNvPr>
          <p:cNvSpPr txBox="1">
            <a:spLocks/>
          </p:cNvSpPr>
          <p:nvPr/>
        </p:nvSpPr>
        <p:spPr>
          <a:xfrm>
            <a:off x="119571" y="3351784"/>
            <a:ext cx="1174750" cy="89768"/>
          </a:xfrm>
          <a:prstGeom prst="rect">
            <a:avLst/>
          </a:prstGeom>
        </p:spPr>
        <p:txBody>
          <a:bodyPr vert="horz" wrap="square" lIns="0" tIns="0" rIns="0" bIns="0" rtlCol="0">
            <a:spAutoFit/>
          </a:bodyPr>
          <a:lstStyle>
            <a:defPPr lvl="0">
              <a:defRPr lang="en-US"/>
            </a:defPPr>
            <a:lvl1pPr marL="0" lvl="0" algn="l" defTabSz="914400" rtl="0" eaLnBrk="1" latinLnBrk="0" hangingPunct="1">
              <a:defRPr sz="600" b="0" i="0" kern="1200">
                <a:solidFill>
                  <a:schemeClr val="bg1"/>
                </a:solidFill>
                <a:latin typeface="Tahoma"/>
                <a:ea typeface="+mn-ea"/>
                <a:cs typeface="Tahoma"/>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marL="12700">
              <a:lnSpc>
                <a:spcPts val="675"/>
              </a:lnSpc>
            </a:pPr>
            <a:r>
              <a:rPr lang="en-US" spc="-10" dirty="0"/>
              <a:t>11/006/2025</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FBAF1-C612-F0DC-3AD5-142EFA5318C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1A33E5E-0382-9334-30EE-C868EDC4BB20}"/>
              </a:ext>
            </a:extLst>
          </p:cNvPr>
          <p:cNvSpPr txBox="1"/>
          <p:nvPr/>
        </p:nvSpPr>
        <p:spPr>
          <a:xfrm>
            <a:off x="95300" y="59878"/>
            <a:ext cx="1051560" cy="244475"/>
          </a:xfrm>
          <a:prstGeom prst="rect">
            <a:avLst/>
          </a:prstGeom>
        </p:spPr>
        <p:txBody>
          <a:bodyPr vert="horz" wrap="square" lIns="0" tIns="17145" rIns="0" bIns="0" rtlCol="0">
            <a:spAutoFit/>
          </a:bodyPr>
          <a:lstStyle/>
          <a:p>
            <a:pPr marL="12700">
              <a:lnSpc>
                <a:spcPct val="100000"/>
              </a:lnSpc>
              <a:spcBef>
                <a:spcPts val="135"/>
              </a:spcBef>
            </a:pPr>
            <a:r>
              <a:rPr sz="1400" b="1" spc="10" dirty="0">
                <a:solidFill>
                  <a:srgbClr val="FFFFFF"/>
                </a:solidFill>
                <a:latin typeface="Arial"/>
                <a:cs typeface="Arial"/>
              </a:rPr>
              <a:t>Intr</a:t>
            </a:r>
            <a:r>
              <a:rPr sz="1400" b="1" spc="60" dirty="0">
                <a:solidFill>
                  <a:srgbClr val="FFFFFF"/>
                </a:solidFill>
                <a:latin typeface="Arial"/>
                <a:cs typeface="Arial"/>
              </a:rPr>
              <a:t>o</a:t>
            </a:r>
            <a:r>
              <a:rPr sz="1400" b="1" spc="-20" dirty="0">
                <a:solidFill>
                  <a:srgbClr val="FFFFFF"/>
                </a:solidFill>
                <a:latin typeface="Arial"/>
                <a:cs typeface="Arial"/>
              </a:rPr>
              <a:t>ducti</a:t>
            </a:r>
            <a:r>
              <a:rPr sz="1400" b="1" spc="-60" dirty="0">
                <a:solidFill>
                  <a:srgbClr val="FFFFFF"/>
                </a:solidFill>
                <a:latin typeface="Arial"/>
                <a:cs typeface="Arial"/>
              </a:rPr>
              <a:t>on</a:t>
            </a:r>
            <a:endParaRPr sz="1400">
              <a:latin typeface="Arial"/>
              <a:cs typeface="Arial"/>
            </a:endParaRPr>
          </a:p>
        </p:txBody>
      </p:sp>
      <p:sp>
        <p:nvSpPr>
          <p:cNvPr id="4" name="object 4">
            <a:extLst>
              <a:ext uri="{FF2B5EF4-FFF2-40B4-BE49-F238E27FC236}">
                <a16:creationId xmlns:a16="http://schemas.microsoft.com/office/drawing/2014/main" id="{B67A8F5E-6586-D646-E699-8513992E05C0}"/>
              </a:ext>
            </a:extLst>
          </p:cNvPr>
          <p:cNvSpPr txBox="1"/>
          <p:nvPr/>
        </p:nvSpPr>
        <p:spPr>
          <a:xfrm>
            <a:off x="476250" y="434975"/>
            <a:ext cx="3988188" cy="1361270"/>
          </a:xfrm>
          <a:prstGeom prst="rect">
            <a:avLst/>
          </a:prstGeom>
        </p:spPr>
        <p:txBody>
          <a:bodyPr vert="horz" wrap="square" lIns="0" tIns="6985" rIns="0" bIns="0" rtlCol="0">
            <a:spAutoFit/>
          </a:bodyPr>
          <a:lstStyle/>
          <a:p>
            <a:r>
              <a:rPr lang="en-US" sz="1100" dirty="0">
                <a:latin typeface="Times New Roman" panose="02020603050405020304" pitchFamily="18" charset="0"/>
                <a:cs typeface="Times New Roman" panose="02020603050405020304" pitchFamily="18" charset="0"/>
              </a:rPr>
              <a:t>YojanaBench is the first benchmark for reasoning over Indian welfare-scheme guideline documents, paired with a multi-agent audit pipeline. Official scheme PDFs are indexed once by a Corpus Agent into a vector store. Each application then flows through Intake, RAG, Entitlement and Verification agents; an Orchestrator issues a verdict with explanation and confidence, an Evaluation Agent scores it against human-verified ground truth, and an Appeal Agent routes rejections to the correct channel. The full system runs on LangGraph and Ollama with zero API cost.</a:t>
            </a:r>
          </a:p>
        </p:txBody>
      </p:sp>
      <p:grpSp>
        <p:nvGrpSpPr>
          <p:cNvPr id="6" name="object 6">
            <a:extLst>
              <a:ext uri="{FF2B5EF4-FFF2-40B4-BE49-F238E27FC236}">
                <a16:creationId xmlns:a16="http://schemas.microsoft.com/office/drawing/2014/main" id="{F4BB8779-0776-6FF9-9D0A-EC213F11D3E7}"/>
              </a:ext>
            </a:extLst>
          </p:cNvPr>
          <p:cNvGrpSpPr/>
          <p:nvPr/>
        </p:nvGrpSpPr>
        <p:grpSpPr>
          <a:xfrm>
            <a:off x="1905" y="3293864"/>
            <a:ext cx="4608195" cy="168910"/>
            <a:chOff x="0" y="3287306"/>
            <a:chExt cx="4608195" cy="168910"/>
          </a:xfrm>
        </p:grpSpPr>
        <p:sp>
          <p:nvSpPr>
            <p:cNvPr id="7" name="object 7">
              <a:extLst>
                <a:ext uri="{FF2B5EF4-FFF2-40B4-BE49-F238E27FC236}">
                  <a16:creationId xmlns:a16="http://schemas.microsoft.com/office/drawing/2014/main" id="{EFF5C475-1D2E-B66A-E4AE-C171630A72C5}"/>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p>
          </p:txBody>
        </p:sp>
        <p:sp>
          <p:nvSpPr>
            <p:cNvPr id="8" name="object 8">
              <a:extLst>
                <a:ext uri="{FF2B5EF4-FFF2-40B4-BE49-F238E27FC236}">
                  <a16:creationId xmlns:a16="http://schemas.microsoft.com/office/drawing/2014/main" id="{0C67B69E-F45F-593E-C2F0-AF17A3088CE3}"/>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p>
          </p:txBody>
        </p:sp>
        <p:sp>
          <p:nvSpPr>
            <p:cNvPr id="9" name="object 9">
              <a:extLst>
                <a:ext uri="{FF2B5EF4-FFF2-40B4-BE49-F238E27FC236}">
                  <a16:creationId xmlns:a16="http://schemas.microsoft.com/office/drawing/2014/main" id="{43834250-946E-3C90-B160-5B21FB424ABA}"/>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p>
          </p:txBody>
        </p:sp>
      </p:grpSp>
      <p:sp>
        <p:nvSpPr>
          <p:cNvPr id="12" name="object 12">
            <a:extLst>
              <a:ext uri="{FF2B5EF4-FFF2-40B4-BE49-F238E27FC236}">
                <a16:creationId xmlns:a16="http://schemas.microsoft.com/office/drawing/2014/main" id="{B233A840-FA11-52BE-DFD5-6E7C7D7E3A0F}"/>
              </a:ext>
            </a:extLst>
          </p:cNvPr>
          <p:cNvSpPr txBox="1">
            <a:spLocks noGrp="1"/>
          </p:cNvSpPr>
          <p:nvPr>
            <p:ph type="ftr" sz="quarter" idx="5"/>
          </p:nvPr>
        </p:nvSpPr>
        <p:spPr>
          <a:xfrm>
            <a:off x="1504950" y="3331469"/>
            <a:ext cx="1600199" cy="89768"/>
          </a:xfrm>
          <a:prstGeom prst="rect">
            <a:avLst/>
          </a:prstGeom>
        </p:spPr>
        <p:txBody>
          <a:bodyPr vert="horz" wrap="square" lIns="0" tIns="0" rIns="0" bIns="0" rtlCol="0">
            <a:spAutoFit/>
          </a:bodyPr>
          <a:lstStyle/>
          <a:p>
            <a:pPr marL="12700">
              <a:lnSpc>
                <a:spcPts val="675"/>
              </a:lnSpc>
            </a:pPr>
            <a:r>
              <a:rPr lang="en-US"/>
              <a:t>YojanaBench: Scheme Document Reasoning</a:t>
            </a:r>
            <a:endParaRPr lang="en-US" spc="-15" dirty="0"/>
          </a:p>
        </p:txBody>
      </p:sp>
      <p:sp>
        <p:nvSpPr>
          <p:cNvPr id="13" name="object 13">
            <a:extLst>
              <a:ext uri="{FF2B5EF4-FFF2-40B4-BE49-F238E27FC236}">
                <a16:creationId xmlns:a16="http://schemas.microsoft.com/office/drawing/2014/main" id="{2AEE52A5-3949-E018-6290-57DAAF2960E4}"/>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t>3</a:t>
            </a:fld>
            <a:r>
              <a:rPr spc="-10" dirty="0"/>
              <a:t> </a:t>
            </a:r>
            <a:r>
              <a:rPr spc="85" dirty="0"/>
              <a:t>/</a:t>
            </a:r>
            <a:r>
              <a:rPr spc="-5" dirty="0"/>
              <a:t> </a:t>
            </a:r>
            <a:r>
              <a:rPr lang="en-US" spc="-15" dirty="0"/>
              <a:t>29</a:t>
            </a:r>
            <a:endParaRPr spc="-15" dirty="0"/>
          </a:p>
        </p:txBody>
      </p:sp>
      <p:pic>
        <p:nvPicPr>
          <p:cNvPr id="10" name="object 3">
            <a:extLst>
              <a:ext uri="{FF2B5EF4-FFF2-40B4-BE49-F238E27FC236}">
                <a16:creationId xmlns:a16="http://schemas.microsoft.com/office/drawing/2014/main" id="{FEC9DCFB-8CD7-49E4-3563-01DC4B3258CA}"/>
              </a:ext>
            </a:extLst>
          </p:cNvPr>
          <p:cNvPicPr/>
          <p:nvPr/>
        </p:nvPicPr>
        <p:blipFill>
          <a:blip r:embed="rId2" cstate="print"/>
          <a:stretch>
            <a:fillRect/>
          </a:stretch>
        </p:blipFill>
        <p:spPr>
          <a:xfrm>
            <a:off x="287308" y="522110"/>
            <a:ext cx="65265" cy="65265"/>
          </a:xfrm>
          <a:prstGeom prst="rect">
            <a:avLst/>
          </a:prstGeom>
        </p:spPr>
      </p:pic>
      <p:sp>
        <p:nvSpPr>
          <p:cNvPr id="3" name="object 21">
            <a:extLst>
              <a:ext uri="{FF2B5EF4-FFF2-40B4-BE49-F238E27FC236}">
                <a16:creationId xmlns:a16="http://schemas.microsoft.com/office/drawing/2014/main" id="{EC9476F2-A65A-5899-2E15-35BB395F0697}"/>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t>11/006/2025</a:t>
            </a:r>
            <a:endParaRPr spc="-10" dirty="0"/>
          </a:p>
        </p:txBody>
      </p:sp>
    </p:spTree>
    <p:extLst>
      <p:ext uri="{BB962C8B-B14F-4D97-AF65-F5344CB8AC3E}">
        <p14:creationId xmlns:p14="http://schemas.microsoft.com/office/powerpoint/2010/main" val="236188449"/>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59878"/>
            <a:ext cx="2438350" cy="232756"/>
          </a:xfrm>
          <a:prstGeom prst="rect">
            <a:avLst/>
          </a:prstGeom>
        </p:spPr>
        <p:txBody>
          <a:bodyPr vert="horz" wrap="square" lIns="0" tIns="17145" rIns="0" bIns="0" rtlCol="0">
            <a:spAutoFit/>
          </a:bodyPr>
          <a:lstStyle/>
          <a:p>
            <a:pPr marL="12700">
              <a:lnSpc>
                <a:spcPct val="100000"/>
              </a:lnSpc>
              <a:spcBef>
                <a:spcPts val="135"/>
              </a:spcBef>
            </a:pPr>
            <a:r>
              <a:rPr lang="en-US" sz="1400" b="1" spc="10" dirty="0">
                <a:solidFill>
                  <a:srgbClr val="FFFFFF"/>
                </a:solidFill>
                <a:latin typeface="Arial"/>
                <a:cs typeface="Arial"/>
              </a:rPr>
              <a:t>Problem Statement </a:t>
            </a:r>
            <a:endParaRPr sz="1400" dirty="0">
              <a:latin typeface="Arial"/>
              <a:cs typeface="Arial"/>
            </a:endParaRPr>
          </a:p>
        </p:txBody>
      </p:sp>
      <p:pic>
        <p:nvPicPr>
          <p:cNvPr id="3" name="object 3"/>
          <p:cNvPicPr/>
          <p:nvPr/>
        </p:nvPicPr>
        <p:blipFill>
          <a:blip r:embed="rId2" cstate="print"/>
          <a:stretch>
            <a:fillRect/>
          </a:stretch>
        </p:blipFill>
        <p:spPr>
          <a:xfrm>
            <a:off x="410985" y="511175"/>
            <a:ext cx="65265" cy="65265"/>
          </a:xfrm>
          <a:prstGeom prst="rect">
            <a:avLst/>
          </a:prstGeom>
        </p:spPr>
      </p:pic>
      <p:sp>
        <p:nvSpPr>
          <p:cNvPr id="4" name="object 4"/>
          <p:cNvSpPr txBox="1"/>
          <p:nvPr/>
        </p:nvSpPr>
        <p:spPr>
          <a:xfrm>
            <a:off x="539556" y="434975"/>
            <a:ext cx="3988188" cy="1391343"/>
          </a:xfrm>
          <a:prstGeom prst="rect">
            <a:avLst/>
          </a:prstGeom>
        </p:spPr>
        <p:txBody>
          <a:bodyPr vert="horz" wrap="square" lIns="0" tIns="6985" rIns="0" bIns="0" rtlCol="0">
            <a:spAutoFit/>
          </a:bodyPr>
          <a:lstStyle/>
          <a:p>
            <a:pPr marL="12700" marR="5080">
              <a:lnSpc>
                <a:spcPct val="102600"/>
              </a:lnSpc>
              <a:spcBef>
                <a:spcPts val="55"/>
              </a:spcBef>
            </a:pPr>
            <a:r>
              <a:rPr lang="en-US" sz="1100" dirty="0">
                <a:latin typeface="Times New Roman" panose="02020603050405020304" pitchFamily="18" charset="0"/>
                <a:cs typeface="Times New Roman" panose="02020603050405020304" pitchFamily="18" charset="0"/>
              </a:rPr>
              <a:t>India runs over 950 central and state welfare schemes governed by dense PDF guideline documents. Every year, eligibility errors, wrong entitlement calculations and mis-routing of applications cause long delays for crores of applicants. Existing benchmarks such as GAIA are English-general and LawBench covers Chinese law, so no structured test exists for whether AI agents reason correctly over these real scheme documents. Without such a benchmark, deployed AI tools cannot be validated for eligibility and entitlement correctness.</a:t>
            </a:r>
          </a:p>
        </p:txBody>
      </p:sp>
      <p:grpSp>
        <p:nvGrpSpPr>
          <p:cNvPr id="6" name="object 6"/>
          <p:cNvGrpSpPr/>
          <p:nvPr/>
        </p:nvGrpSpPr>
        <p:grpSpPr>
          <a:xfrm>
            <a:off x="1905" y="3293864"/>
            <a:ext cx="4608195" cy="168910"/>
            <a:chOff x="0" y="3287306"/>
            <a:chExt cx="4608195" cy="168910"/>
          </a:xfrm>
        </p:grpSpPr>
        <p:sp>
          <p:nvSpPr>
            <p:cNvPr id="7" name="object 7"/>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p>
          </p:txBody>
        </p:sp>
      </p:grpSp>
      <p:sp>
        <p:nvSpPr>
          <p:cNvPr id="12" name="object 12"/>
          <p:cNvSpPr txBox="1">
            <a:spLocks noGrp="1"/>
          </p:cNvSpPr>
          <p:nvPr>
            <p:ph type="ftr" sz="quarter" idx="5"/>
          </p:nvPr>
        </p:nvSpPr>
        <p:spPr>
          <a:xfrm>
            <a:off x="1504950" y="3331469"/>
            <a:ext cx="1600199" cy="89768"/>
          </a:xfrm>
          <a:prstGeom prst="rect">
            <a:avLst/>
          </a:prstGeom>
        </p:spPr>
        <p:txBody>
          <a:bodyPr vert="horz" wrap="square" lIns="0" tIns="0" rIns="0" bIns="0" rtlCol="0">
            <a:spAutoFit/>
          </a:bodyPr>
          <a:lstStyle/>
          <a:p>
            <a:pPr marL="12700">
              <a:lnSpc>
                <a:spcPts val="675"/>
              </a:lnSpc>
            </a:pPr>
            <a:r>
              <a:rPr lang="en-US"/>
              <a:t>YojanaBench: Scheme Document Reasoning</a:t>
            </a:r>
            <a:endParaRPr lang="en-US" spc="-15" dirty="0"/>
          </a:p>
        </p:txBody>
      </p:sp>
      <p:sp>
        <p:nvSpPr>
          <p:cNvPr id="13" name="object 13"/>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t>4</a:t>
            </a:fld>
            <a:r>
              <a:rPr spc="-10" dirty="0"/>
              <a:t> </a:t>
            </a:r>
            <a:r>
              <a:rPr spc="85" dirty="0"/>
              <a:t>/</a:t>
            </a:r>
            <a:r>
              <a:rPr spc="-5" dirty="0"/>
              <a:t> </a:t>
            </a:r>
            <a:r>
              <a:rPr lang="en-US" spc="-15" dirty="0"/>
              <a:t>29</a:t>
            </a:r>
            <a:endParaRPr spc="-15" dirty="0"/>
          </a:p>
        </p:txBody>
      </p:sp>
      <p:sp>
        <p:nvSpPr>
          <p:cNvPr id="10" name="object 21">
            <a:extLst>
              <a:ext uri="{FF2B5EF4-FFF2-40B4-BE49-F238E27FC236}">
                <a16:creationId xmlns:a16="http://schemas.microsoft.com/office/drawing/2014/main" id="{E5EDAEEB-5FBA-3C60-46E6-09C877EAF7DA}"/>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t>11/006/2025</a:t>
            </a:r>
            <a:endParaRPr spc="-10" dirty="0"/>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59878"/>
            <a:ext cx="527050" cy="244475"/>
          </a:xfrm>
          <a:prstGeom prst="rect">
            <a:avLst/>
          </a:prstGeom>
        </p:spPr>
        <p:txBody>
          <a:bodyPr vert="horz" wrap="square" lIns="0" tIns="17145" rIns="0" bIns="0" rtlCol="0">
            <a:spAutoFit/>
          </a:bodyPr>
          <a:lstStyle/>
          <a:p>
            <a:pPr marL="12700">
              <a:lnSpc>
                <a:spcPct val="100000"/>
              </a:lnSpc>
              <a:spcBef>
                <a:spcPts val="135"/>
              </a:spcBef>
            </a:pPr>
            <a:r>
              <a:rPr sz="1400" b="1" spc="-65" dirty="0">
                <a:solidFill>
                  <a:srgbClr val="FFFFFF"/>
                </a:solidFill>
                <a:latin typeface="Arial"/>
                <a:cs typeface="Arial"/>
              </a:rPr>
              <a:t>Sco</a:t>
            </a:r>
            <a:r>
              <a:rPr sz="1400" b="1" spc="-25" dirty="0">
                <a:solidFill>
                  <a:srgbClr val="FFFFFF"/>
                </a:solidFill>
                <a:latin typeface="Arial"/>
                <a:cs typeface="Arial"/>
              </a:rPr>
              <a:t>p</a:t>
            </a:r>
            <a:r>
              <a:rPr sz="1400" b="1" spc="-50" dirty="0">
                <a:solidFill>
                  <a:srgbClr val="FFFFFF"/>
                </a:solidFill>
                <a:latin typeface="Arial"/>
                <a:cs typeface="Arial"/>
              </a:rPr>
              <a:t>e</a:t>
            </a:r>
            <a:endParaRPr sz="1400">
              <a:latin typeface="Arial"/>
              <a:cs typeface="Arial"/>
            </a:endParaRPr>
          </a:p>
        </p:txBody>
      </p:sp>
      <p:grpSp>
        <p:nvGrpSpPr>
          <p:cNvPr id="5" name="object 5"/>
          <p:cNvGrpSpPr/>
          <p:nvPr/>
        </p:nvGrpSpPr>
        <p:grpSpPr>
          <a:xfrm>
            <a:off x="-16538" y="3285109"/>
            <a:ext cx="4608195" cy="168910"/>
            <a:chOff x="0" y="3287306"/>
            <a:chExt cx="4608195" cy="168910"/>
          </a:xfrm>
        </p:grpSpPr>
        <p:sp>
          <p:nvSpPr>
            <p:cNvPr id="6" name="object 6"/>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xfrm>
            <a:off x="1444768" y="3324680"/>
            <a:ext cx="1720564" cy="89768"/>
          </a:xfrm>
          <a:prstGeom prst="rect">
            <a:avLst/>
          </a:prstGeom>
        </p:spPr>
        <p:txBody>
          <a:bodyPr vert="horz" wrap="square" lIns="0" tIns="0" rIns="0" bIns="0" rtlCol="0">
            <a:spAutoFit/>
          </a:bodyPr>
          <a:lstStyle/>
          <a:p>
            <a:pPr marL="12700">
              <a:lnSpc>
                <a:spcPts val="675"/>
              </a:lnSpc>
            </a:pPr>
            <a:r>
              <a:rPr lang="en-US" dirty="0"/>
              <a:t>YojanaBench: Scheme Document Reasoning</a:t>
            </a:r>
            <a:endParaRPr spc="-15" dirty="0"/>
          </a:p>
        </p:txBody>
      </p:sp>
      <p:sp>
        <p:nvSpPr>
          <p:cNvPr id="12" name="object 12"/>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t>5</a:t>
            </a:fld>
            <a:r>
              <a:rPr spc="-10" dirty="0"/>
              <a:t> </a:t>
            </a:r>
            <a:r>
              <a:rPr spc="85" dirty="0"/>
              <a:t>/</a:t>
            </a:r>
            <a:r>
              <a:rPr spc="-5" dirty="0"/>
              <a:t> </a:t>
            </a:r>
            <a:r>
              <a:rPr lang="en-US" spc="-15" dirty="0"/>
              <a:t>29</a:t>
            </a:r>
            <a:endParaRPr spc="-15" dirty="0"/>
          </a:p>
        </p:txBody>
      </p:sp>
      <p:sp>
        <p:nvSpPr>
          <p:cNvPr id="15" name="object 4"/>
          <p:cNvSpPr txBox="1">
            <a:spLocks noGrp="1"/>
          </p:cNvSpPr>
          <p:nvPr>
            <p:ph type="title"/>
          </p:nvPr>
        </p:nvSpPr>
        <p:spPr>
          <a:xfrm>
            <a:off x="400050" y="422113"/>
            <a:ext cx="4191429" cy="1873590"/>
          </a:xfrm>
          <a:prstGeom prst="rect">
            <a:avLst/>
          </a:prstGeom>
        </p:spPr>
        <p:txBody>
          <a:bodyPr vert="horz" wrap="square" lIns="0" tIns="11430" rIns="0" bIns="0" rtlCol="0">
            <a:spAutoFit/>
          </a:bodyPr>
          <a:lstStyle/>
          <a:p>
            <a:r>
              <a:rPr lang="en-US" sz="1100" dirty="0">
                <a:solidFill>
                  <a:schemeClr val="tx1"/>
                </a:solidFill>
                <a:latin typeface="Times New Roman" panose="02020603050405020304" pitchFamily="18" charset="0"/>
                <a:cs typeface="Times New Roman" panose="02020603050405020304" pitchFamily="18" charset="0"/>
              </a:rPr>
              <a:t>The project aims to:</a:t>
            </a:r>
            <a:br>
              <a:rPr lang="en-US" sz="1100" dirty="0">
                <a:solidFill>
                  <a:schemeClr val="tx1"/>
                </a:solidFill>
                <a:latin typeface="Times New Roman" panose="02020603050405020304" pitchFamily="18" charset="0"/>
                <a:cs typeface="Times New Roman" panose="02020603050405020304" pitchFamily="18" charset="0"/>
              </a:rPr>
            </a:br>
            <a:r>
              <a:rPr lang="en-US" sz="1100" dirty="0">
                <a:solidFill>
                  <a:schemeClr val="tx1"/>
                </a:solidFill>
                <a:latin typeface="Times New Roman" panose="02020603050405020304" pitchFamily="18" charset="0"/>
                <a:cs typeface="Times New Roman" panose="02020603050405020304" pitchFamily="18" charset="0"/>
              </a:rPr>
              <a:t>Curate guideline PDFs of 10 to 15 high-volume Indian welfare schemes.</a:t>
            </a:r>
            <a:br>
              <a:rPr lang="en-US" sz="1100" dirty="0">
                <a:solidFill>
                  <a:schemeClr val="tx1"/>
                </a:solidFill>
                <a:latin typeface="Times New Roman" panose="02020603050405020304" pitchFamily="18" charset="0"/>
                <a:cs typeface="Times New Roman" panose="02020603050405020304" pitchFamily="18" charset="0"/>
              </a:rPr>
            </a:br>
            <a:r>
              <a:rPr lang="en-US" sz="1100" dirty="0">
                <a:solidFill>
                  <a:schemeClr val="tx1"/>
                </a:solidFill>
                <a:latin typeface="Times New Roman" panose="02020603050405020304" pitchFamily="18" charset="0"/>
                <a:cs typeface="Times New Roman" panose="02020603050405020304" pitchFamily="18" charset="0"/>
              </a:rPr>
              <a:t>Build human-verified QA pairs on eligibility, entitlement, documents and appeals.</a:t>
            </a:r>
            <a:br>
              <a:rPr lang="en-US" sz="1100" dirty="0">
                <a:solidFill>
                  <a:schemeClr val="tx1"/>
                </a:solidFill>
                <a:latin typeface="Times New Roman" panose="02020603050405020304" pitchFamily="18" charset="0"/>
                <a:cs typeface="Times New Roman" panose="02020603050405020304" pitchFamily="18" charset="0"/>
              </a:rPr>
            </a:br>
            <a:r>
              <a:rPr lang="en-US" sz="1100" dirty="0">
                <a:solidFill>
                  <a:schemeClr val="tx1"/>
                </a:solidFill>
                <a:latin typeface="Times New Roman" panose="02020603050405020304" pitchFamily="18" charset="0"/>
                <a:cs typeface="Times New Roman" panose="02020603050405020304" pitchFamily="18" charset="0"/>
              </a:rPr>
              <a:t>Create counterfactual and edge-case scenarios with verdict ground truth.</a:t>
            </a:r>
            <a:br>
              <a:rPr lang="en-US" sz="1100" dirty="0">
                <a:solidFill>
                  <a:schemeClr val="tx1"/>
                </a:solidFill>
                <a:latin typeface="Times New Roman" panose="02020603050405020304" pitchFamily="18" charset="0"/>
                <a:cs typeface="Times New Roman" panose="02020603050405020304" pitchFamily="18" charset="0"/>
              </a:rPr>
            </a:br>
            <a:r>
              <a:rPr lang="en-US" sz="1100" dirty="0">
                <a:solidFill>
                  <a:schemeClr val="tx1"/>
                </a:solidFill>
                <a:latin typeface="Times New Roman" panose="02020603050405020304" pitchFamily="18" charset="0"/>
                <a:cs typeface="Times New Roman" panose="02020603050405020304" pitchFamily="18" charset="0"/>
              </a:rPr>
              <a:t>Implement an eight-agent audit pipeline using LangGraph and Ollama LLMs.</a:t>
            </a:r>
            <a:br>
              <a:rPr lang="en-US" sz="1100" dirty="0">
                <a:solidFill>
                  <a:schemeClr val="tx1"/>
                </a:solidFill>
                <a:latin typeface="Times New Roman" panose="02020603050405020304" pitchFamily="18" charset="0"/>
                <a:cs typeface="Times New Roman" panose="02020603050405020304" pitchFamily="18" charset="0"/>
              </a:rPr>
            </a:br>
            <a:r>
              <a:rPr lang="en-US" sz="1100" dirty="0">
                <a:solidFill>
                  <a:schemeClr val="tx1"/>
                </a:solidFill>
                <a:latin typeface="Times New Roman" panose="02020603050405020304" pitchFamily="18" charset="0"/>
                <a:cs typeface="Times New Roman" panose="02020603050405020304" pitchFamily="18" charset="0"/>
              </a:rPr>
              <a:t>Score answers with EM, F1, verdict accuracy and entitlement error.</a:t>
            </a:r>
            <a:br>
              <a:rPr lang="en-US" sz="1100" dirty="0">
                <a:solidFill>
                  <a:schemeClr val="tx1"/>
                </a:solidFill>
                <a:latin typeface="Times New Roman" panose="02020603050405020304" pitchFamily="18" charset="0"/>
                <a:cs typeface="Times New Roman" panose="02020603050405020304" pitchFamily="18" charset="0"/>
              </a:rPr>
            </a:br>
            <a:r>
              <a:rPr lang="en-US" sz="1100" dirty="0">
                <a:solidFill>
                  <a:schemeClr val="tx1"/>
                </a:solidFill>
                <a:latin typeface="Times New Roman" panose="02020603050405020304" pitchFamily="18" charset="0"/>
                <a:cs typeface="Times New Roman" panose="02020603050405020304" pitchFamily="18" charset="0"/>
              </a:rPr>
              <a:t>Run baselines and ablation studies to measure each agent contribution.</a:t>
            </a:r>
            <a:br>
              <a:rPr lang="en-US" sz="1100" dirty="0">
                <a:solidFill>
                  <a:schemeClr val="tx1"/>
                </a:solidFill>
                <a:latin typeface="Times New Roman" panose="02020603050405020304" pitchFamily="18" charset="0"/>
                <a:cs typeface="Times New Roman" panose="02020603050405020304" pitchFamily="18" charset="0"/>
              </a:rPr>
            </a:br>
            <a:r>
              <a:rPr lang="en-US" sz="1100" dirty="0">
                <a:solidFill>
                  <a:schemeClr val="tx1"/>
                </a:solidFill>
                <a:latin typeface="Times New Roman" panose="02020603050405020304" pitchFamily="18" charset="0"/>
                <a:cs typeface="Times New Roman" panose="02020603050405020304" pitchFamily="18" charset="0"/>
              </a:rPr>
              <a:t>Release the benchmark, dashboard and demo scenarios with the report.</a:t>
            </a:r>
          </a:p>
        </p:txBody>
      </p:sp>
      <p:pic>
        <p:nvPicPr>
          <p:cNvPr id="4" name="object 3">
            <a:extLst>
              <a:ext uri="{FF2B5EF4-FFF2-40B4-BE49-F238E27FC236}">
                <a16:creationId xmlns:a16="http://schemas.microsoft.com/office/drawing/2014/main" id="{B185B2D5-6A29-7281-1ED2-2097E11029B0}"/>
              </a:ext>
            </a:extLst>
          </p:cNvPr>
          <p:cNvPicPr/>
          <p:nvPr/>
        </p:nvPicPr>
        <p:blipFill>
          <a:blip r:embed="rId2" cstate="print"/>
          <a:stretch>
            <a:fillRect/>
          </a:stretch>
        </p:blipFill>
        <p:spPr>
          <a:xfrm>
            <a:off x="258585" y="663502"/>
            <a:ext cx="65265" cy="65265"/>
          </a:xfrm>
          <a:prstGeom prst="rect">
            <a:avLst/>
          </a:prstGeom>
        </p:spPr>
      </p:pic>
      <p:pic>
        <p:nvPicPr>
          <p:cNvPr id="9" name="object 3">
            <a:extLst>
              <a:ext uri="{FF2B5EF4-FFF2-40B4-BE49-F238E27FC236}">
                <a16:creationId xmlns:a16="http://schemas.microsoft.com/office/drawing/2014/main" id="{09DB2A28-74F0-5FB9-A24E-8D348240CFAE}"/>
              </a:ext>
            </a:extLst>
          </p:cNvPr>
          <p:cNvPicPr/>
          <p:nvPr/>
        </p:nvPicPr>
        <p:blipFill>
          <a:blip r:embed="rId2" cstate="print"/>
          <a:stretch>
            <a:fillRect/>
          </a:stretch>
        </p:blipFill>
        <p:spPr>
          <a:xfrm>
            <a:off x="258584" y="1168598"/>
            <a:ext cx="65265" cy="65265"/>
          </a:xfrm>
          <a:prstGeom prst="rect">
            <a:avLst/>
          </a:prstGeom>
        </p:spPr>
      </p:pic>
      <p:pic>
        <p:nvPicPr>
          <p:cNvPr id="13" name="object 3">
            <a:extLst>
              <a:ext uri="{FF2B5EF4-FFF2-40B4-BE49-F238E27FC236}">
                <a16:creationId xmlns:a16="http://schemas.microsoft.com/office/drawing/2014/main" id="{97C998D8-367A-8050-4252-CDEBF0BBC5BE}"/>
              </a:ext>
            </a:extLst>
          </p:cNvPr>
          <p:cNvPicPr/>
          <p:nvPr/>
        </p:nvPicPr>
        <p:blipFill>
          <a:blip r:embed="rId2" cstate="print"/>
          <a:stretch>
            <a:fillRect/>
          </a:stretch>
        </p:blipFill>
        <p:spPr>
          <a:xfrm>
            <a:off x="262442" y="1492896"/>
            <a:ext cx="65265" cy="65265"/>
          </a:xfrm>
          <a:prstGeom prst="rect">
            <a:avLst/>
          </a:prstGeom>
        </p:spPr>
      </p:pic>
      <p:pic>
        <p:nvPicPr>
          <p:cNvPr id="14" name="object 3">
            <a:extLst>
              <a:ext uri="{FF2B5EF4-FFF2-40B4-BE49-F238E27FC236}">
                <a16:creationId xmlns:a16="http://schemas.microsoft.com/office/drawing/2014/main" id="{7B77F24D-BD44-1C36-DA3F-EE95F9568E90}"/>
              </a:ext>
            </a:extLst>
          </p:cNvPr>
          <p:cNvPicPr/>
          <p:nvPr/>
        </p:nvPicPr>
        <p:blipFill>
          <a:blip r:embed="rId2" cstate="print"/>
          <a:stretch>
            <a:fillRect/>
          </a:stretch>
        </p:blipFill>
        <p:spPr>
          <a:xfrm>
            <a:off x="258585" y="1657510"/>
            <a:ext cx="65265" cy="65265"/>
          </a:xfrm>
          <a:prstGeom prst="rect">
            <a:avLst/>
          </a:prstGeom>
        </p:spPr>
      </p:pic>
      <p:pic>
        <p:nvPicPr>
          <p:cNvPr id="16" name="object 3">
            <a:extLst>
              <a:ext uri="{FF2B5EF4-FFF2-40B4-BE49-F238E27FC236}">
                <a16:creationId xmlns:a16="http://schemas.microsoft.com/office/drawing/2014/main" id="{8C2E98F9-F730-4302-A40F-BA1F3A478825}"/>
              </a:ext>
            </a:extLst>
          </p:cNvPr>
          <p:cNvPicPr/>
          <p:nvPr/>
        </p:nvPicPr>
        <p:blipFill>
          <a:blip r:embed="rId2" cstate="print"/>
          <a:stretch>
            <a:fillRect/>
          </a:stretch>
        </p:blipFill>
        <p:spPr>
          <a:xfrm>
            <a:off x="259747" y="1828445"/>
            <a:ext cx="65265" cy="65265"/>
          </a:xfrm>
          <a:prstGeom prst="rect">
            <a:avLst/>
          </a:prstGeom>
        </p:spPr>
      </p:pic>
      <p:pic>
        <p:nvPicPr>
          <p:cNvPr id="17" name="object 3">
            <a:extLst>
              <a:ext uri="{FF2B5EF4-FFF2-40B4-BE49-F238E27FC236}">
                <a16:creationId xmlns:a16="http://schemas.microsoft.com/office/drawing/2014/main" id="{1E13E2C5-50C0-3F33-B832-F05DB02D950C}"/>
              </a:ext>
            </a:extLst>
          </p:cNvPr>
          <p:cNvPicPr/>
          <p:nvPr/>
        </p:nvPicPr>
        <p:blipFill>
          <a:blip r:embed="rId2" cstate="print"/>
          <a:stretch>
            <a:fillRect/>
          </a:stretch>
        </p:blipFill>
        <p:spPr>
          <a:xfrm>
            <a:off x="252054" y="2005274"/>
            <a:ext cx="65265" cy="65265"/>
          </a:xfrm>
          <a:prstGeom prst="rect">
            <a:avLst/>
          </a:prstGeom>
        </p:spPr>
      </p:pic>
      <p:pic>
        <p:nvPicPr>
          <p:cNvPr id="18" name="object 3">
            <a:extLst>
              <a:ext uri="{FF2B5EF4-FFF2-40B4-BE49-F238E27FC236}">
                <a16:creationId xmlns:a16="http://schemas.microsoft.com/office/drawing/2014/main" id="{E28AE369-299F-224D-6FFC-C103E601A359}"/>
              </a:ext>
            </a:extLst>
          </p:cNvPr>
          <p:cNvPicPr/>
          <p:nvPr/>
        </p:nvPicPr>
        <p:blipFill>
          <a:blip r:embed="rId2" cstate="print"/>
          <a:stretch>
            <a:fillRect/>
          </a:stretch>
        </p:blipFill>
        <p:spPr>
          <a:xfrm>
            <a:off x="255887" y="2157674"/>
            <a:ext cx="65265" cy="65265"/>
          </a:xfrm>
          <a:prstGeom prst="rect">
            <a:avLst/>
          </a:prstGeom>
        </p:spPr>
      </p:pic>
      <p:sp>
        <p:nvSpPr>
          <p:cNvPr id="3" name="object 21">
            <a:extLst>
              <a:ext uri="{FF2B5EF4-FFF2-40B4-BE49-F238E27FC236}">
                <a16:creationId xmlns:a16="http://schemas.microsoft.com/office/drawing/2014/main" id="{4CB15E06-0464-10E9-20AF-DA6BF688D121}"/>
              </a:ext>
            </a:extLst>
          </p:cNvPr>
          <p:cNvSpPr txBox="1">
            <a:spLocks noGrp="1"/>
          </p:cNvSpPr>
          <p:nvPr>
            <p:ph type="dt" sz="half" idx="6"/>
          </p:nvPr>
        </p:nvSpPr>
        <p:spPr>
          <a:xfrm>
            <a:off x="180975" y="3351213"/>
            <a:ext cx="1174750" cy="90487"/>
          </a:xfrm>
          <a:prstGeom prst="rect">
            <a:avLst/>
          </a:prstGeom>
        </p:spPr>
        <p:txBody>
          <a:bodyPr vert="horz" wrap="square" lIns="0" tIns="0" rIns="0" bIns="0" rtlCol="0">
            <a:spAutoFit/>
          </a:bodyPr>
          <a:lstStyle/>
          <a:p>
            <a:pPr marL="12700">
              <a:lnSpc>
                <a:spcPts val="675"/>
              </a:lnSpc>
            </a:pPr>
            <a:r>
              <a:rPr lang="en-US" spc="-10" dirty="0"/>
              <a:t>11/006/2025</a:t>
            </a:r>
            <a:endParaRPr spc="-10" dirty="0"/>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459105" cy="244475"/>
          </a:xfrm>
          <a:prstGeom prst="rect">
            <a:avLst/>
          </a:prstGeom>
        </p:spPr>
        <p:txBody>
          <a:bodyPr vert="horz" wrap="square" lIns="0" tIns="17145" rIns="0" bIns="0" rtlCol="0">
            <a:spAutoFit/>
          </a:bodyPr>
          <a:lstStyle/>
          <a:p>
            <a:pPr marL="12700">
              <a:lnSpc>
                <a:spcPct val="100000"/>
              </a:lnSpc>
              <a:spcBef>
                <a:spcPts val="135"/>
              </a:spcBef>
            </a:pPr>
            <a:r>
              <a:rPr b="1" spc="-5" dirty="0">
                <a:latin typeface="Arial"/>
                <a:cs typeface="Arial"/>
              </a:rPr>
              <a:t>Need</a:t>
            </a:r>
          </a:p>
        </p:txBody>
      </p:sp>
      <p:pic>
        <p:nvPicPr>
          <p:cNvPr id="3" name="object 3"/>
          <p:cNvPicPr/>
          <p:nvPr/>
        </p:nvPicPr>
        <p:blipFill>
          <a:blip r:embed="rId2" cstate="print"/>
          <a:stretch>
            <a:fillRect/>
          </a:stretch>
        </p:blipFill>
        <p:spPr>
          <a:xfrm>
            <a:off x="281089" y="598310"/>
            <a:ext cx="65265" cy="65265"/>
          </a:xfrm>
          <a:prstGeom prst="rect">
            <a:avLst/>
          </a:prstGeom>
        </p:spPr>
      </p:pic>
      <p:sp>
        <p:nvSpPr>
          <p:cNvPr id="4" name="object 4"/>
          <p:cNvSpPr txBox="1"/>
          <p:nvPr/>
        </p:nvSpPr>
        <p:spPr>
          <a:xfrm>
            <a:off x="402932" y="507171"/>
            <a:ext cx="4079240" cy="1765676"/>
          </a:xfrm>
          <a:prstGeom prst="rect">
            <a:avLst/>
          </a:prstGeom>
        </p:spPr>
        <p:txBody>
          <a:bodyPr vert="horz" wrap="square" lIns="0" tIns="6985" rIns="0" bIns="0" rtlCol="0">
            <a:spAutoFit/>
          </a:bodyPr>
          <a:lstStyle/>
          <a:p>
            <a:pPr marL="12700" marR="5080" algn="just">
              <a:lnSpc>
                <a:spcPct val="102600"/>
              </a:lnSpc>
              <a:spcBef>
                <a:spcPts val="55"/>
              </a:spcBef>
            </a:pPr>
            <a:r>
              <a:rPr lang="en-US" sz="1100" spc="-20" dirty="0">
                <a:latin typeface="Times New Roman" panose="02020603050405020304" pitchFamily="18" charset="0"/>
                <a:cs typeface="Times New Roman" panose="02020603050405020304" pitchFamily="18" charset="0"/>
              </a:rPr>
              <a:t>Correctly deciding who is eligible for a welfare scheme and how much they are entitled to is essential for good governance. Eligibility errors and wrong entitlement calculations delay benefits for crores of citizens every year. These mistakes also waste public funds and erode trust in public service delivery.</a:t>
            </a:r>
          </a:p>
          <a:p>
            <a:pPr marL="12700" marR="5080" algn="just">
              <a:lnSpc>
                <a:spcPct val="102600"/>
              </a:lnSpc>
              <a:spcBef>
                <a:spcPts val="55"/>
              </a:spcBef>
            </a:pPr>
            <a:r>
              <a:rPr lang="en-US" sz="1100" dirty="0">
                <a:latin typeface="Times New Roman" panose="02020603050405020304" pitchFamily="18" charset="0"/>
                <a:cs typeface="Times New Roman" panose="02020603050405020304" pitchFamily="18" charset="0"/>
              </a:rPr>
              <a:t>Scheme guidelines are long and dense documents. Applicants, helpdesk staff and even officers struggle to interpret clauses such as income ceilings, age limits, category rules and document requirements correctly. This leads to wrong rejections, wrong approvals and repeated visits to government offices.</a:t>
            </a:r>
          </a:p>
          <a:p>
            <a:pPr marL="12700" marR="5080" algn="just">
              <a:lnSpc>
                <a:spcPct val="102600"/>
              </a:lnSpc>
              <a:spcBef>
                <a:spcPts val="55"/>
              </a:spcBef>
            </a:pPr>
            <a:r>
              <a:rPr lang="en-US" sz="1100" dirty="0">
                <a:latin typeface="Times New Roman" panose="02020603050405020304" pitchFamily="18" charset="0"/>
                <a:cs typeface="Times New Roman" panose="02020603050405020304" pitchFamily="18" charset="0"/>
              </a:rPr>
              <a:t>AI assistants can answer scheme questions quickly, but no benchmark verifies whether their eligibility verdicts and benefit calculations match the official documents. Errors therefore go unmeasured and unimproved. YojanaBench supplies exactly this missing measuring instrument.</a:t>
            </a:r>
          </a:p>
        </p:txBody>
      </p:sp>
      <p:grpSp>
        <p:nvGrpSpPr>
          <p:cNvPr id="5" name="object 5"/>
          <p:cNvGrpSpPr/>
          <p:nvPr/>
        </p:nvGrpSpPr>
        <p:grpSpPr>
          <a:xfrm>
            <a:off x="0" y="3287306"/>
            <a:ext cx="4608195" cy="168910"/>
            <a:chOff x="0" y="3287306"/>
            <a:chExt cx="4608195" cy="168910"/>
          </a:xfrm>
        </p:grpSpPr>
        <p:sp>
          <p:nvSpPr>
            <p:cNvPr id="6" name="object 6"/>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xfrm>
            <a:off x="1445424" y="3314164"/>
            <a:ext cx="1728659" cy="89768"/>
          </a:xfrm>
          <a:prstGeom prst="rect">
            <a:avLst/>
          </a:prstGeom>
        </p:spPr>
        <p:txBody>
          <a:bodyPr vert="horz" wrap="square" lIns="0" tIns="0" rIns="0" bIns="0" rtlCol="0">
            <a:spAutoFit/>
          </a:bodyPr>
          <a:lstStyle/>
          <a:p>
            <a:pPr marL="12700">
              <a:lnSpc>
                <a:spcPts val="675"/>
              </a:lnSpc>
            </a:pPr>
            <a:r>
              <a:rPr lang="en-US" dirty="0"/>
              <a:t>YojanaBench: Scheme Document Reasoning</a:t>
            </a:r>
            <a:endParaRPr spc="-15" dirty="0"/>
          </a:p>
        </p:txBody>
      </p:sp>
      <p:sp>
        <p:nvSpPr>
          <p:cNvPr id="12" name="object 12"/>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t>6</a:t>
            </a:fld>
            <a:r>
              <a:rPr spc="-10" dirty="0"/>
              <a:t> </a:t>
            </a:r>
            <a:r>
              <a:rPr spc="85" dirty="0"/>
              <a:t>/</a:t>
            </a:r>
            <a:r>
              <a:rPr spc="-5" dirty="0"/>
              <a:t> </a:t>
            </a:r>
            <a:r>
              <a:rPr lang="en-US" spc="-15" dirty="0"/>
              <a:t>29</a:t>
            </a:r>
            <a:endParaRPr spc="-15" dirty="0"/>
          </a:p>
        </p:txBody>
      </p:sp>
      <p:sp>
        <p:nvSpPr>
          <p:cNvPr id="9" name="object 21">
            <a:extLst>
              <a:ext uri="{FF2B5EF4-FFF2-40B4-BE49-F238E27FC236}">
                <a16:creationId xmlns:a16="http://schemas.microsoft.com/office/drawing/2014/main" id="{4FFBCBD3-01E1-091A-A5AD-95EE64632603}"/>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t>11/006/2025</a:t>
            </a:r>
            <a:endParaRPr spc="-10" dirty="0"/>
          </a:p>
        </p:txBody>
      </p:sp>
      <p:pic>
        <p:nvPicPr>
          <p:cNvPr id="10" name="object 3">
            <a:extLst>
              <a:ext uri="{FF2B5EF4-FFF2-40B4-BE49-F238E27FC236}">
                <a16:creationId xmlns:a16="http://schemas.microsoft.com/office/drawing/2014/main" id="{A6394F2B-2EAE-093C-4029-5B32B66BCEDF}"/>
              </a:ext>
            </a:extLst>
          </p:cNvPr>
          <p:cNvPicPr/>
          <p:nvPr/>
        </p:nvPicPr>
        <p:blipFill>
          <a:blip r:embed="rId2" cstate="print"/>
          <a:stretch>
            <a:fillRect/>
          </a:stretch>
        </p:blipFill>
        <p:spPr>
          <a:xfrm>
            <a:off x="248456" y="1286179"/>
            <a:ext cx="65265" cy="65265"/>
          </a:xfrm>
          <a:prstGeom prst="rect">
            <a:avLst/>
          </a:prstGeom>
        </p:spPr>
      </p:pic>
      <p:pic>
        <p:nvPicPr>
          <p:cNvPr id="13" name="object 3">
            <a:extLst>
              <a:ext uri="{FF2B5EF4-FFF2-40B4-BE49-F238E27FC236}">
                <a16:creationId xmlns:a16="http://schemas.microsoft.com/office/drawing/2014/main" id="{7431CCBD-1187-ADF4-6E6A-FB1C72F1448B}"/>
              </a:ext>
            </a:extLst>
          </p:cNvPr>
          <p:cNvPicPr/>
          <p:nvPr/>
        </p:nvPicPr>
        <p:blipFill>
          <a:blip r:embed="rId2" cstate="print"/>
          <a:stretch>
            <a:fillRect/>
          </a:stretch>
        </p:blipFill>
        <p:spPr>
          <a:xfrm>
            <a:off x="241947" y="1824041"/>
            <a:ext cx="65265" cy="65265"/>
          </a:xfrm>
          <a:prstGeom prst="rect">
            <a:avLst/>
          </a:prstGeom>
        </p:spPr>
      </p:pic>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934719" cy="232756"/>
          </a:xfrm>
          <a:prstGeom prst="rect">
            <a:avLst/>
          </a:prstGeom>
        </p:spPr>
        <p:txBody>
          <a:bodyPr vert="horz" wrap="square" lIns="0" tIns="17145" rIns="0" bIns="0" rtlCol="0">
            <a:spAutoFit/>
          </a:bodyPr>
          <a:lstStyle/>
          <a:p>
            <a:pPr marL="12700">
              <a:lnSpc>
                <a:spcPct val="100000"/>
              </a:lnSpc>
              <a:spcBef>
                <a:spcPts val="135"/>
              </a:spcBef>
            </a:pPr>
            <a:r>
              <a:rPr b="1" spc="10" dirty="0">
                <a:latin typeface="Times New Roman" panose="02020603050405020304" pitchFamily="18" charset="0"/>
                <a:cs typeface="Times New Roman" panose="02020603050405020304" pitchFamily="18" charset="0"/>
              </a:rPr>
              <a:t>Motivation</a:t>
            </a:r>
          </a:p>
        </p:txBody>
      </p:sp>
      <p:grpSp>
        <p:nvGrpSpPr>
          <p:cNvPr id="5" name="object 5"/>
          <p:cNvGrpSpPr/>
          <p:nvPr/>
        </p:nvGrpSpPr>
        <p:grpSpPr>
          <a:xfrm>
            <a:off x="5231" y="3285109"/>
            <a:ext cx="4608195" cy="168910"/>
            <a:chOff x="0" y="3287306"/>
            <a:chExt cx="4608195" cy="168910"/>
          </a:xfrm>
        </p:grpSpPr>
        <p:sp>
          <p:nvSpPr>
            <p:cNvPr id="6" name="object 6"/>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10" name="object 10"/>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1" name="object 11"/>
          <p:cNvSpPr txBox="1">
            <a:spLocks noGrp="1"/>
          </p:cNvSpPr>
          <p:nvPr>
            <p:ph type="ftr" sz="quarter" idx="5"/>
          </p:nvPr>
        </p:nvSpPr>
        <p:spPr>
          <a:xfrm>
            <a:off x="1501350" y="3313133"/>
            <a:ext cx="1686532"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2" name="object 12"/>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7</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DF13453-8AEF-964B-9949-04B15808DEA4}"/>
              </a:ext>
            </a:extLst>
          </p:cNvPr>
          <p:cNvSpPr txBox="1"/>
          <p:nvPr/>
        </p:nvSpPr>
        <p:spPr>
          <a:xfrm>
            <a:off x="180581" y="434975"/>
            <a:ext cx="4329600" cy="1631216"/>
          </a:xfrm>
          <a:prstGeom prst="rect">
            <a:avLst/>
          </a:prstGeom>
          <a:noFill/>
        </p:spPr>
        <p:txBody>
          <a:bodyPr wrap="square">
            <a:spAutoFit/>
          </a:bodyPr>
          <a:lstStyle/>
          <a:p>
            <a:pPr algn="just"/>
            <a:r>
              <a:rPr lang="en-US" sz="1000" dirty="0">
                <a:latin typeface="Times New Roman" panose="02020603050405020304" pitchFamily="18" charset="0"/>
                <a:cs typeface="Times New Roman" panose="02020603050405020304" pitchFamily="18" charset="0"/>
              </a:rPr>
              <a:t>This project started because welfare decisions depend on dense rule documents that neither citizens nor AI systems can interpret reliably. Real eligibility and entitlement errors cause months of delay and financial loss. By combining document retrieval, deterministic computation and multi-agent verification, we can measure and improve how AI reasons over official scheme guidelines. Our pipeline reads scheme PDFs, checks a case against the rules, computes the exact benefit, flags missing documents, and returns a verdict with confidence.</a:t>
            </a:r>
          </a:p>
          <a:p>
            <a:pPr algn="just"/>
            <a:r>
              <a:rPr lang="en-US" sz="1000" dirty="0">
                <a:latin typeface="Times New Roman" panose="02020603050405020304" pitchFamily="18" charset="0"/>
                <a:cs typeface="Times New Roman" panose="02020603050405020304" pitchFamily="18" charset="0"/>
              </a:rPr>
              <a:t>The goal is to:</a:t>
            </a:r>
          </a:p>
          <a:p>
            <a:pPr marL="171450" indent="-171450" algn="just">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Build the first benchmark for Indian welfare-scheme reasoning.</a:t>
            </a:r>
          </a:p>
          <a:p>
            <a:pPr marL="171450" indent="-171450" algn="just">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Verify AI answers against human-checked ground truth.</a:t>
            </a:r>
          </a:p>
          <a:p>
            <a:pPr marL="171450" indent="-171450" algn="just">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Measure eligibility and entitlement accuracy with clear metrics.</a:t>
            </a:r>
          </a:p>
          <a:p>
            <a:pPr marL="171450" indent="-171450" algn="just">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Provide a free open-source pipeline using Ollama and LangGraph.</a:t>
            </a:r>
          </a:p>
        </p:txBody>
      </p:sp>
      <p:pic>
        <p:nvPicPr>
          <p:cNvPr id="18" name="object 3">
            <a:extLst>
              <a:ext uri="{FF2B5EF4-FFF2-40B4-BE49-F238E27FC236}">
                <a16:creationId xmlns:a16="http://schemas.microsoft.com/office/drawing/2014/main" id="{4A2F02F1-EC97-2855-991D-B0597C8DE07D}"/>
              </a:ext>
            </a:extLst>
          </p:cNvPr>
          <p:cNvPicPr/>
          <p:nvPr/>
        </p:nvPicPr>
        <p:blipFill>
          <a:blip r:embed="rId2" cstate="print"/>
          <a:stretch>
            <a:fillRect/>
          </a:stretch>
        </p:blipFill>
        <p:spPr>
          <a:xfrm>
            <a:off x="99919" y="550361"/>
            <a:ext cx="65265" cy="65265"/>
          </a:xfrm>
          <a:prstGeom prst="rect">
            <a:avLst/>
          </a:prstGeom>
        </p:spPr>
      </p:pic>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59878"/>
            <a:ext cx="1469390" cy="232756"/>
          </a:xfrm>
          <a:prstGeom prst="rect">
            <a:avLst/>
          </a:prstGeom>
        </p:spPr>
        <p:txBody>
          <a:bodyPr vert="horz" wrap="square" lIns="0" tIns="17145" rIns="0" bIns="0" rtlCol="0">
            <a:spAutoFit/>
          </a:bodyPr>
          <a:lstStyle/>
          <a:p>
            <a:pPr marL="12700">
              <a:lnSpc>
                <a:spcPct val="100000"/>
              </a:lnSpc>
              <a:spcBef>
                <a:spcPts val="135"/>
              </a:spcBef>
            </a:pPr>
            <a:r>
              <a:rPr sz="1400" b="1" spc="-5" dirty="0">
                <a:solidFill>
                  <a:srgbClr val="FFFFFF"/>
                </a:solidFill>
                <a:latin typeface="Times New Roman" panose="02020603050405020304" pitchFamily="18" charset="0"/>
                <a:cs typeface="Times New Roman" panose="02020603050405020304" pitchFamily="18" charset="0"/>
              </a:rPr>
              <a:t>Literature</a:t>
            </a:r>
            <a:r>
              <a:rPr sz="1400" b="1" spc="95" dirty="0">
                <a:solidFill>
                  <a:srgbClr val="FFFFFF"/>
                </a:solidFill>
                <a:latin typeface="Times New Roman" panose="02020603050405020304" pitchFamily="18" charset="0"/>
                <a:cs typeface="Times New Roman" panose="02020603050405020304" pitchFamily="18" charset="0"/>
              </a:rPr>
              <a:t> </a:t>
            </a:r>
            <a:r>
              <a:rPr sz="1400" b="1" spc="-50" dirty="0">
                <a:solidFill>
                  <a:srgbClr val="FFFFFF"/>
                </a:solidFill>
                <a:latin typeface="Times New Roman" panose="02020603050405020304" pitchFamily="18" charset="0"/>
                <a:cs typeface="Times New Roman" panose="02020603050405020304" pitchFamily="18" charset="0"/>
              </a:rPr>
              <a:t>Survey</a:t>
            </a:r>
            <a:endParaRPr sz="1400" dirty="0">
              <a:latin typeface="Times New Roman" panose="02020603050405020304" pitchFamily="18" charset="0"/>
              <a:cs typeface="Times New Roman" panose="02020603050405020304" pitchFamily="18" charset="0"/>
            </a:endParaRPr>
          </a:p>
        </p:txBody>
      </p:sp>
      <p:grpSp>
        <p:nvGrpSpPr>
          <p:cNvPr id="5" name="object 5"/>
          <p:cNvGrpSpPr/>
          <p:nvPr/>
        </p:nvGrpSpPr>
        <p:grpSpPr>
          <a:xfrm>
            <a:off x="0" y="3287306"/>
            <a:ext cx="4608195" cy="168910"/>
            <a:chOff x="0" y="3287306"/>
            <a:chExt cx="4608195" cy="168910"/>
          </a:xfrm>
        </p:grpSpPr>
        <p:sp>
          <p:nvSpPr>
            <p:cNvPr id="6" name="object 6"/>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8" name="object 8"/>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10" name="object 10"/>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1" name="object 11"/>
          <p:cNvSpPr txBox="1">
            <a:spLocks noGrp="1"/>
          </p:cNvSpPr>
          <p:nvPr>
            <p:ph type="ftr" sz="quarter" idx="5"/>
          </p:nvPr>
        </p:nvSpPr>
        <p:spPr>
          <a:xfrm>
            <a:off x="1450302" y="3311104"/>
            <a:ext cx="1706244"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2" name="object 12"/>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8</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EC556D00-8C30-6C2C-691C-83FB18D27C7D}"/>
              </a:ext>
            </a:extLst>
          </p:cNvPr>
          <p:cNvPicPr>
            <a:picLocks noChangeAspect="1"/>
          </p:cNvPicPr>
          <p:nvPr/>
        </p:nvPicPr>
        <p:blipFill>
          <a:blip r:embed="rId2"/>
          <a:stretch>
            <a:fillRect/>
          </a:stretch>
        </p:blipFill>
        <p:spPr>
          <a:xfrm>
            <a:off x="19050" y="358775"/>
            <a:ext cx="4610100" cy="2409055"/>
          </a:xfrm>
          <a:prstGeom prst="rect">
            <a:avLst/>
          </a:prstGeom>
        </p:spPr>
      </p:pic>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1838325" cy="232756"/>
          </a:xfrm>
          <a:prstGeom prst="rect">
            <a:avLst/>
          </a:prstGeom>
        </p:spPr>
        <p:txBody>
          <a:bodyPr vert="horz" wrap="square" lIns="0" tIns="17145" rIns="0" bIns="0" rtlCol="0">
            <a:spAutoFit/>
          </a:bodyPr>
          <a:lstStyle/>
          <a:p>
            <a:pPr marL="12700">
              <a:lnSpc>
                <a:spcPct val="100000"/>
              </a:lnSpc>
              <a:spcBef>
                <a:spcPts val="135"/>
              </a:spcBef>
            </a:pPr>
            <a:r>
              <a:rPr lang="en-US" b="1" spc="-25" dirty="0">
                <a:latin typeface="Arial"/>
                <a:cs typeface="Arial"/>
              </a:rPr>
              <a:t>Architectural Diagram</a:t>
            </a:r>
            <a:endParaRPr lang="en-US" b="1" spc="-45" dirty="0">
              <a:latin typeface="Arial"/>
              <a:cs typeface="Arial"/>
            </a:endParaRPr>
          </a:p>
        </p:txBody>
      </p:sp>
      <p:grpSp>
        <p:nvGrpSpPr>
          <p:cNvPr id="12" name="object 12"/>
          <p:cNvGrpSpPr/>
          <p:nvPr/>
        </p:nvGrpSpPr>
        <p:grpSpPr>
          <a:xfrm>
            <a:off x="0" y="3287306"/>
            <a:ext cx="4608017" cy="168910"/>
            <a:chOff x="0" y="3287306"/>
            <a:chExt cx="4608017" cy="168910"/>
          </a:xfrm>
        </p:grpSpPr>
        <p:sp>
          <p:nvSpPr>
            <p:cNvPr id="13" name="object 13"/>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p>
          </p:txBody>
        </p:sp>
        <p:sp>
          <p:nvSpPr>
            <p:cNvPr id="14" name="object 14"/>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p>
          </p:txBody>
        </p:sp>
        <p:sp>
          <p:nvSpPr>
            <p:cNvPr id="15" name="object 15"/>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p>
          </p:txBody>
        </p:sp>
      </p:grpSp>
      <p:sp>
        <p:nvSpPr>
          <p:cNvPr id="17" name="object 17"/>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t>11/06/2025</a:t>
            </a:r>
            <a:endParaRPr spc="-10" dirty="0"/>
          </a:p>
        </p:txBody>
      </p:sp>
      <p:sp>
        <p:nvSpPr>
          <p:cNvPr id="18" name="object 18"/>
          <p:cNvSpPr txBox="1">
            <a:spLocks noGrp="1"/>
          </p:cNvSpPr>
          <p:nvPr>
            <p:ph type="ftr" sz="quarter" idx="5"/>
          </p:nvPr>
        </p:nvSpPr>
        <p:spPr>
          <a:xfrm>
            <a:off x="1501743" y="3326877"/>
            <a:ext cx="2033459" cy="89768"/>
          </a:xfrm>
          <a:prstGeom prst="rect">
            <a:avLst/>
          </a:prstGeom>
        </p:spPr>
        <p:txBody>
          <a:bodyPr vert="horz" wrap="square" lIns="0" tIns="0" rIns="0" bIns="0" rtlCol="0">
            <a:spAutoFit/>
          </a:bodyPr>
          <a:lstStyle/>
          <a:p>
            <a:pPr marL="12700">
              <a:lnSpc>
                <a:spcPts val="675"/>
              </a:lnSpc>
            </a:pPr>
            <a:r>
              <a:rPr lang="en-US" dirty="0"/>
              <a:t>YojanaBench: Scheme Document Reasoning</a:t>
            </a:r>
            <a:endParaRPr spc="-15" dirty="0"/>
          </a:p>
        </p:txBody>
      </p:sp>
      <p:sp>
        <p:nvSpPr>
          <p:cNvPr id="19" name="object 19"/>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t>9</a:t>
            </a:fld>
            <a:r>
              <a:rPr spc="-10" dirty="0"/>
              <a:t> </a:t>
            </a:r>
            <a:r>
              <a:rPr spc="85" dirty="0"/>
              <a:t>/</a:t>
            </a:r>
            <a:r>
              <a:rPr spc="-5" dirty="0"/>
              <a:t> </a:t>
            </a:r>
            <a:r>
              <a:rPr lang="en-US" spc="-15" dirty="0"/>
              <a:t>29</a:t>
            </a:r>
            <a:endParaRPr spc="-15" dirty="0"/>
          </a:p>
        </p:txBody>
      </p:sp>
      <p:sp>
        <p:nvSpPr>
          <p:cNvPr id="10" name="object 2">
            <a:extLst>
              <a:ext uri="{FF2B5EF4-FFF2-40B4-BE49-F238E27FC236}">
                <a16:creationId xmlns:a16="http://schemas.microsoft.com/office/drawing/2014/main" id="{9AE7439D-0D58-FE2E-75C2-CE9099370405}"/>
              </a:ext>
            </a:extLst>
          </p:cNvPr>
          <p:cNvSpPr txBox="1">
            <a:spLocks/>
          </p:cNvSpPr>
          <p:nvPr/>
        </p:nvSpPr>
        <p:spPr>
          <a:xfrm>
            <a:off x="1354548" y="2860919"/>
            <a:ext cx="3131947" cy="178895"/>
          </a:xfrm>
          <a:prstGeom prst="rect">
            <a:avLst/>
          </a:prstGeom>
        </p:spPr>
        <p:txBody>
          <a:bodyPr vert="horz" wrap="square" lIns="0" tIns="17145" rIns="0" bIns="0" rtlCol="0">
            <a:spAutoFit/>
          </a:bodyPr>
          <a:lstStyle>
            <a:lvl1pPr>
              <a:defRPr sz="1400" b="0" i="0">
                <a:solidFill>
                  <a:schemeClr val="bg1"/>
                </a:solidFill>
                <a:latin typeface="Tahoma"/>
                <a:ea typeface="+mj-ea"/>
                <a:cs typeface="Tahoma"/>
              </a:defRPr>
            </a:lvl1pPr>
          </a:lstStyle>
          <a:p>
            <a:pPr marL="12700">
              <a:spcBef>
                <a:spcPts val="135"/>
              </a:spcBef>
            </a:pPr>
            <a:r>
              <a:rPr lang="en-US" sz="1050" b="1" kern="0" spc="-25" dirty="0">
                <a:solidFill>
                  <a:schemeClr val="tx1"/>
                </a:solidFill>
                <a:latin typeface="Arial"/>
                <a:cs typeface="Arial"/>
              </a:rPr>
              <a:t>Fig 1. Architectural Diagram</a:t>
            </a:r>
            <a:endParaRPr lang="en-US" sz="1050" b="1" kern="0" spc="-45" dirty="0">
              <a:solidFill>
                <a:schemeClr val="tx1"/>
              </a:solidFill>
              <a:latin typeface="Arial"/>
              <a:cs typeface="Arial"/>
            </a:endParaRPr>
          </a:p>
        </p:txBody>
      </p:sp>
      <p:sp>
        <p:nvSpPr>
          <p:cNvPr id="4" name="Rectangle 3">
            <a:extLst>
              <a:ext uri="{FF2B5EF4-FFF2-40B4-BE49-F238E27FC236}">
                <a16:creationId xmlns:a16="http://schemas.microsoft.com/office/drawing/2014/main" id="{6DC19EF1-0B4A-2163-8431-766A1A92625D}"/>
              </a:ext>
            </a:extLst>
          </p:cNvPr>
          <p:cNvSpPr/>
          <p:nvPr/>
        </p:nvSpPr>
        <p:spPr>
          <a:xfrm>
            <a:off x="328662" y="1237811"/>
            <a:ext cx="685800" cy="22312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7" name="Picture 6">
            <a:extLst>
              <a:ext uri="{FF2B5EF4-FFF2-40B4-BE49-F238E27FC236}">
                <a16:creationId xmlns:a16="http://schemas.microsoft.com/office/drawing/2014/main" id="{1E767637-BAF1-2C66-79F3-8A892EE52141}"/>
              </a:ext>
            </a:extLst>
          </p:cNvPr>
          <p:cNvPicPr>
            <a:picLocks noChangeAspect="1"/>
          </p:cNvPicPr>
          <p:nvPr/>
        </p:nvPicPr>
        <p:blipFill>
          <a:blip r:embed="rId2">
            <a:extLst>
              <a:ext uri="{28A0092B-C50C-407E-A947-70E740481C1C}">
                <a14:useLocalDpi xmlns:a14="http://schemas.microsoft.com/office/drawing/2010/main" val="0"/>
              </a:ext>
            </a:extLst>
          </a:blip>
          <a:srcRect l="15334" t="4833" r="18550" b="4264"/>
          <a:stretch/>
        </p:blipFill>
        <p:spPr>
          <a:xfrm>
            <a:off x="551408" y="420936"/>
            <a:ext cx="3505200" cy="2400412"/>
          </a:xfrm>
          <a:prstGeom prst="rect">
            <a:avLst/>
          </a:prstGeom>
        </p:spPr>
      </p:pic>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64AD8-F51A-8599-8D78-456D2A404C0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3B86E3E-D841-0639-147C-1EFABE2710D9}"/>
              </a:ext>
            </a:extLst>
          </p:cNvPr>
          <p:cNvSpPr txBox="1">
            <a:spLocks noGrp="1"/>
          </p:cNvSpPr>
          <p:nvPr>
            <p:ph type="title"/>
          </p:nvPr>
        </p:nvSpPr>
        <p:spPr>
          <a:xfrm>
            <a:off x="95300" y="59878"/>
            <a:ext cx="3657550" cy="232756"/>
          </a:xfrm>
          <a:prstGeom prst="rect">
            <a:avLst/>
          </a:prstGeom>
        </p:spPr>
        <p:txBody>
          <a:bodyPr vert="horz" wrap="square" lIns="0" tIns="17145" rIns="0" bIns="0" rtlCol="0">
            <a:spAutoFit/>
          </a:bodyPr>
          <a:lstStyle/>
          <a:p>
            <a:pPr marL="12700">
              <a:lnSpc>
                <a:spcPct val="100000"/>
              </a:lnSpc>
              <a:spcBef>
                <a:spcPts val="135"/>
              </a:spcBef>
            </a:pPr>
            <a:r>
              <a:rPr lang="en-US" spc="-65" dirty="0">
                <a:latin typeface="Times New Roman" panose="02020603050405020304" pitchFamily="18" charset="0"/>
                <a:cs typeface="Times New Roman" panose="02020603050405020304" pitchFamily="18" charset="0"/>
              </a:rPr>
              <a:t>Mathematical Model [1/1]</a:t>
            </a:r>
            <a:endParaRPr spc="-25" dirty="0">
              <a:latin typeface="Times New Roman" panose="02020603050405020304" pitchFamily="18" charset="0"/>
              <a:cs typeface="Times New Roman" panose="02020603050405020304" pitchFamily="18" charset="0"/>
            </a:endParaRPr>
          </a:p>
        </p:txBody>
      </p:sp>
      <p:grpSp>
        <p:nvGrpSpPr>
          <p:cNvPr id="4" name="object 4">
            <a:extLst>
              <a:ext uri="{FF2B5EF4-FFF2-40B4-BE49-F238E27FC236}">
                <a16:creationId xmlns:a16="http://schemas.microsoft.com/office/drawing/2014/main" id="{6290A885-8A0C-3AF7-CCC5-8765E88C345C}"/>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E0F37A50-805E-73DB-A0E5-06DF5732CD19}"/>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A8E5C002-47FB-FC2C-96AB-D6D4A0A88F45}"/>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2E66A5D3-B8D8-EDDF-486C-6D19EDC85306}"/>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A887317D-5F0F-6258-9172-F7EE8419BF1D}"/>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1EB1443E-DA01-625C-7534-8021AFBA6D45}"/>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CA281153-3EBC-BDAF-807E-EFBC28BCBB37}"/>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10</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7BF5ACF-0DEA-C51B-2C27-E4F1EB4D52ED}"/>
              </a:ext>
            </a:extLst>
          </p:cNvPr>
          <p:cNvSpPr txBox="1"/>
          <p:nvPr/>
        </p:nvSpPr>
        <p:spPr>
          <a:xfrm>
            <a:off x="172491" y="413402"/>
            <a:ext cx="4181869" cy="1277273"/>
          </a:xfrm>
          <a:prstGeom prst="rect">
            <a:avLst/>
          </a:prstGeom>
          <a:noFill/>
        </p:spPr>
        <p:txBody>
          <a:bodyPr wrap="square" rtlCol="0">
            <a:spAutoFit/>
          </a:bodyPr>
          <a:lstStyle/>
          <a:p>
            <a:pPr algn="just"/>
            <a:r>
              <a:rPr lang="en-US" sz="1100" b="1" dirty="0">
                <a:latin typeface="Times New Roman" panose="02020603050405020304" pitchFamily="18" charset="0"/>
                <a:ea typeface="Tahoma" panose="020B0604030504040204" pitchFamily="34" charset="0"/>
                <a:cs typeface="Times New Roman" panose="02020603050405020304" pitchFamily="18" charset="0"/>
              </a:rPr>
              <a:t> Evaluation Metrics :</a:t>
            </a:r>
          </a:p>
          <a:p>
            <a:pPr algn="just"/>
            <a:r>
              <a:rPr lang="en-US" sz="1100" dirty="0"/>
              <a:t>YojanaBench scores every case against human-verified ground truth. Exact Match and token-level F1 measure answer correctness, Verdict Accuracy measures the eligible, ineligible or needs-info decision, and Entitlement Error measures how far the computed benefit is from the correct amount. Confidence calibration checks whether stated confidence matches actual accuracy.</a:t>
            </a:r>
          </a:p>
          <a:p>
            <a:pPr algn="just"/>
            <a:r>
              <a:rPr lang="en-US" sz="1100" dirty="0"/>
              <a:t> Verdict and confidence :</a:t>
            </a:r>
          </a:p>
          <a:p>
            <a:pPr algn="just"/>
            <a:endParaRPr lang="en-US" sz="11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24" name="Picture 23">
            <a:extLst>
              <a:ext uri="{FF2B5EF4-FFF2-40B4-BE49-F238E27FC236}">
                <a16:creationId xmlns:a16="http://schemas.microsoft.com/office/drawing/2014/main" id="{1C064CE1-B429-8D78-0331-BECAC8B8A345}"/>
              </a:ext>
            </a:extLst>
          </p:cNvPr>
          <p:cNvPicPr>
            <a:picLocks noChangeAspect="1"/>
          </p:cNvPicPr>
          <p:nvPr/>
        </p:nvPicPr>
        <p:blipFill>
          <a:blip r:embed="rId2"/>
          <a:stretch>
            <a:fillRect/>
          </a:stretch>
        </p:blipFill>
        <p:spPr>
          <a:xfrm>
            <a:off x="1630089" y="1328691"/>
            <a:ext cx="1038619" cy="508270"/>
          </a:xfrm>
          <a:prstGeom prst="rect">
            <a:avLst/>
          </a:prstGeom>
        </p:spPr>
      </p:pic>
      <p:sp>
        <p:nvSpPr>
          <p:cNvPr id="28" name="TextBox 27">
            <a:extLst>
              <a:ext uri="{FF2B5EF4-FFF2-40B4-BE49-F238E27FC236}">
                <a16:creationId xmlns:a16="http://schemas.microsoft.com/office/drawing/2014/main" id="{67A6D6D5-ED93-EFDC-602A-F2C4F5C5A795}"/>
              </a:ext>
            </a:extLst>
          </p:cNvPr>
          <p:cNvSpPr txBox="1"/>
          <p:nvPr/>
        </p:nvSpPr>
        <p:spPr>
          <a:xfrm>
            <a:off x="781050" y="3040722"/>
            <a:ext cx="3182391" cy="253916"/>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Fig 2. YojanaBench Evaluation Metrics Model</a:t>
            </a:r>
          </a:p>
        </p:txBody>
      </p:sp>
      <p:pic>
        <p:nvPicPr>
          <p:cNvPr id="8" name="Picture 7">
            <a:extLst>
              <a:ext uri="{FF2B5EF4-FFF2-40B4-BE49-F238E27FC236}">
                <a16:creationId xmlns:a16="http://schemas.microsoft.com/office/drawing/2014/main" id="{42AF8F20-7E13-8CE0-900C-862915D65DDF}"/>
              </a:ext>
            </a:extLst>
          </p:cNvPr>
          <p:cNvPicPr>
            <a:picLocks noChangeAspect="1"/>
          </p:cNvPicPr>
          <p:nvPr/>
        </p:nvPicPr>
        <p:blipFill>
          <a:blip r:embed="rId3"/>
          <a:stretch>
            <a:fillRect/>
          </a:stretch>
        </p:blipFill>
        <p:spPr>
          <a:xfrm>
            <a:off x="717365" y="1853211"/>
            <a:ext cx="3035485" cy="1171260"/>
          </a:xfrm>
          <a:prstGeom prst="rect">
            <a:avLst/>
          </a:prstGeom>
        </p:spPr>
      </p:pic>
    </p:spTree>
    <p:extLst>
      <p:ext uri="{BB962C8B-B14F-4D97-AF65-F5344CB8AC3E}">
        <p14:creationId xmlns:p14="http://schemas.microsoft.com/office/powerpoint/2010/main" val="4222600683"/>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3657550" cy="232756"/>
          </a:xfrm>
          <a:prstGeom prst="rect">
            <a:avLst/>
          </a:prstGeom>
        </p:spPr>
        <p:txBody>
          <a:bodyPr vert="horz" wrap="square" lIns="0" tIns="17145" rIns="0" bIns="0" rtlCol="0">
            <a:spAutoFit/>
          </a:bodyPr>
          <a:lstStyle/>
          <a:p>
            <a:pPr marL="12700">
              <a:lnSpc>
                <a:spcPct val="100000"/>
              </a:lnSpc>
              <a:spcBef>
                <a:spcPts val="135"/>
              </a:spcBef>
            </a:pPr>
            <a:r>
              <a:rPr lang="en-US" spc="-65" dirty="0">
                <a:latin typeface="Times New Roman" panose="02020603050405020304" pitchFamily="18" charset="0"/>
                <a:cs typeface="Times New Roman" panose="02020603050405020304" pitchFamily="18" charset="0"/>
              </a:rPr>
              <a:t>Algorithmic Approach[1/4]</a:t>
            </a:r>
            <a:endParaRPr spc="-25" dirty="0">
              <a:latin typeface="Times New Roman" panose="02020603050405020304" pitchFamily="18" charset="0"/>
              <a:cs typeface="Times New Roman" panose="02020603050405020304" pitchFamily="18" charset="0"/>
            </a:endParaRPr>
          </a:p>
        </p:txBody>
      </p:sp>
      <p:grpSp>
        <p:nvGrpSpPr>
          <p:cNvPr id="4" name="object 4"/>
          <p:cNvGrpSpPr/>
          <p:nvPr/>
        </p:nvGrpSpPr>
        <p:grpSpPr>
          <a:xfrm>
            <a:off x="0" y="3287306"/>
            <a:ext cx="4608195" cy="168910"/>
            <a:chOff x="0" y="3287306"/>
            <a:chExt cx="4608195" cy="168910"/>
          </a:xfrm>
        </p:grpSpPr>
        <p:sp>
          <p:nvSpPr>
            <p:cNvPr id="5" name="object 5"/>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11</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863C8B1-BEB8-BF02-C37D-3A0D191E9019}"/>
              </a:ext>
            </a:extLst>
          </p:cNvPr>
          <p:cNvSpPr txBox="1"/>
          <p:nvPr/>
        </p:nvSpPr>
        <p:spPr>
          <a:xfrm>
            <a:off x="172491" y="413402"/>
            <a:ext cx="4181869" cy="1277273"/>
          </a:xfrm>
          <a:prstGeom prst="rect">
            <a:avLst/>
          </a:prstGeom>
          <a:noFill/>
        </p:spPr>
        <p:txBody>
          <a:bodyPr wrap="square" rtlCol="0">
            <a:spAutoFit/>
          </a:bodyPr>
          <a:lstStyle/>
          <a:p>
            <a:pPr algn="just"/>
            <a:r>
              <a:rPr lang="en-US" sz="1100" b="1" dirty="0">
                <a:latin typeface="Times New Roman" panose="02020603050405020304" pitchFamily="18" charset="0"/>
                <a:ea typeface="Tahoma" panose="020B0604030504040204" pitchFamily="34" charset="0"/>
                <a:cs typeface="Times New Roman" panose="02020603050405020304" pitchFamily="18" charset="0"/>
              </a:rPr>
              <a:t>Corpus Agent (Ingestion):</a:t>
            </a:r>
          </a:p>
          <a:p>
            <a:pPr algn="just"/>
            <a:r>
              <a:rPr lang="en-US" sz="1100" b="0" i="0" dirty="0">
                <a:solidFill>
                  <a:srgbClr val="383838"/>
                </a:solidFill>
                <a:effectLst/>
                <a:latin typeface="Times New Roman" panose="02020603050405020304" pitchFamily="18" charset="0"/>
                <a:cs typeface="Times New Roman" panose="02020603050405020304" pitchFamily="18" charset="0"/>
              </a:rPr>
              <a:t>The Corpus Agent extracts text from official scheme PDFs and splits them by clause and section instead of fixed token counts. An LLM fills a scheme schema covering eligibility clauses, entitlement rules, document checklists and appeal hierarchy. Chunks are embedded into a vector store with scheme and section metadata, so retrieval always returns rule-complete passages with page citations.</a:t>
            </a:r>
            <a:endParaRPr lang="en-US" sz="11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50551088-463E-BF46-5EA1-D786EDB27150}"/>
              </a:ext>
            </a:extLst>
          </p:cNvPr>
          <p:cNvSpPr txBox="1"/>
          <p:nvPr/>
        </p:nvSpPr>
        <p:spPr>
          <a:xfrm>
            <a:off x="1009650" y="2837815"/>
            <a:ext cx="3182391" cy="253916"/>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Fig 3. Corpus Agent Ingestion Pipeline</a:t>
            </a:r>
          </a:p>
        </p:txBody>
      </p:sp>
      <p:pic>
        <p:nvPicPr>
          <p:cNvPr id="12" name="Picture 11">
            <a:extLst>
              <a:ext uri="{FF2B5EF4-FFF2-40B4-BE49-F238E27FC236}">
                <a16:creationId xmlns:a16="http://schemas.microsoft.com/office/drawing/2014/main" id="{39F08B91-F9A2-5FFD-296D-FDA5AB7A3866}"/>
              </a:ext>
            </a:extLst>
          </p:cNvPr>
          <p:cNvPicPr>
            <a:picLocks noChangeAspect="1"/>
          </p:cNvPicPr>
          <p:nvPr/>
        </p:nvPicPr>
        <p:blipFill>
          <a:blip r:embed="rId2"/>
          <a:stretch>
            <a:fillRect/>
          </a:stretch>
        </p:blipFill>
        <p:spPr>
          <a:xfrm>
            <a:off x="656182" y="1654581"/>
            <a:ext cx="3295650" cy="1219329"/>
          </a:xfrm>
          <a:prstGeom prst="rect">
            <a:avLst/>
          </a:prstGeom>
        </p:spPr>
      </p:pic>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8693F-E638-0B05-6BD5-C7BEBA53832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E5D74D8-F99C-DD8D-5041-A20CDB461D9A}"/>
              </a:ext>
            </a:extLst>
          </p:cNvPr>
          <p:cNvSpPr txBox="1">
            <a:spLocks noGrp="1"/>
          </p:cNvSpPr>
          <p:nvPr>
            <p:ph type="title"/>
          </p:nvPr>
        </p:nvSpPr>
        <p:spPr>
          <a:xfrm>
            <a:off x="95300" y="59878"/>
            <a:ext cx="3657550" cy="232756"/>
          </a:xfrm>
          <a:prstGeom prst="rect">
            <a:avLst/>
          </a:prstGeom>
        </p:spPr>
        <p:txBody>
          <a:bodyPr vert="horz" wrap="square" lIns="0" tIns="17145" rIns="0" bIns="0" rtlCol="0">
            <a:spAutoFit/>
          </a:bodyPr>
          <a:lstStyle/>
          <a:p>
            <a:pPr marL="12700">
              <a:lnSpc>
                <a:spcPct val="100000"/>
              </a:lnSpc>
              <a:spcBef>
                <a:spcPts val="135"/>
              </a:spcBef>
            </a:pPr>
            <a:r>
              <a:rPr lang="en-US" spc="-65" dirty="0">
                <a:latin typeface="Times New Roman" panose="02020603050405020304" pitchFamily="18" charset="0"/>
                <a:cs typeface="Times New Roman" panose="02020603050405020304" pitchFamily="18" charset="0"/>
              </a:rPr>
              <a:t>Algorithmic Approach[2/4]</a:t>
            </a:r>
            <a:endParaRPr spc="-25" dirty="0">
              <a:latin typeface="Times New Roman" panose="02020603050405020304" pitchFamily="18" charset="0"/>
              <a:cs typeface="Times New Roman" panose="02020603050405020304" pitchFamily="18" charset="0"/>
            </a:endParaRPr>
          </a:p>
        </p:txBody>
      </p:sp>
      <p:grpSp>
        <p:nvGrpSpPr>
          <p:cNvPr id="4" name="object 4">
            <a:extLst>
              <a:ext uri="{FF2B5EF4-FFF2-40B4-BE49-F238E27FC236}">
                <a16:creationId xmlns:a16="http://schemas.microsoft.com/office/drawing/2014/main" id="{18A6AFD7-8E20-4D06-F18E-BF8E6E96C560}"/>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E0733C97-76F2-0042-601E-368E49A7ED8C}"/>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DDCA79BA-82C5-6C44-9B01-B8FB8484B586}"/>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8E5694E2-7F94-9E26-BB37-081C27D8808C}"/>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325FA8B8-02C4-05AC-38A0-603D74BF4007}"/>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D320A23B-D4C8-0284-4FF3-1A50E8BF6AF1}"/>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447F68FE-2D3B-1C95-8376-AD9BE54FCA9B}"/>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12</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B47F34BB-1E76-6635-CE56-D3210B64029D}"/>
              </a:ext>
            </a:extLst>
          </p:cNvPr>
          <p:cNvSpPr txBox="1"/>
          <p:nvPr/>
        </p:nvSpPr>
        <p:spPr>
          <a:xfrm>
            <a:off x="172491" y="413402"/>
            <a:ext cx="4181869" cy="1107996"/>
          </a:xfrm>
          <a:prstGeom prst="rect">
            <a:avLst/>
          </a:prstGeom>
          <a:noFill/>
        </p:spPr>
        <p:txBody>
          <a:bodyPr wrap="square" rtlCol="0">
            <a:spAutoFit/>
          </a:bodyPr>
          <a:lstStyle/>
          <a:p>
            <a:pPr algn="just"/>
            <a:r>
              <a:rPr lang="en-US" sz="1100" b="1" dirty="0">
                <a:latin typeface="Times New Roman" panose="02020603050405020304" pitchFamily="18" charset="0"/>
                <a:ea typeface="Tahoma" panose="020B0604030504040204" pitchFamily="34" charset="0"/>
                <a:cs typeface="Times New Roman" panose="02020603050405020304" pitchFamily="18" charset="0"/>
              </a:rPr>
              <a:t>Intake and RAG Agents:</a:t>
            </a:r>
          </a:p>
          <a:p>
            <a:pPr algn="just"/>
            <a:r>
              <a:rPr lang="en-US" sz="1100" dirty="0">
                <a:latin typeface="Times New Roman" panose="02020603050405020304" pitchFamily="18" charset="0"/>
                <a:cs typeface="Times New Roman" panose="02020603050405020304" pitchFamily="18" charset="0"/>
              </a:rPr>
              <a:t>The Case-Intake Agent extracts applicant fields such as age, income, category, region and family size, and compares submitted papers with the required document checklist. The RAG Agent runs hybrid dense and keyword retrieval over the vector store, re-ranks the top clauses, and returns the cited eligibility and entitlement passages for the case.</a:t>
            </a:r>
          </a:p>
        </p:txBody>
      </p:sp>
      <p:sp>
        <p:nvSpPr>
          <p:cNvPr id="14" name="TextBox 13">
            <a:extLst>
              <a:ext uri="{FF2B5EF4-FFF2-40B4-BE49-F238E27FC236}">
                <a16:creationId xmlns:a16="http://schemas.microsoft.com/office/drawing/2014/main" id="{0A1F6C01-CE57-5E39-F7D1-EC9EBCBE292E}"/>
              </a:ext>
            </a:extLst>
          </p:cNvPr>
          <p:cNvSpPr txBox="1"/>
          <p:nvPr/>
        </p:nvSpPr>
        <p:spPr>
          <a:xfrm>
            <a:off x="857250" y="2993819"/>
            <a:ext cx="3131274" cy="253916"/>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Fig 4. Intake and RAG Retrieval</a:t>
            </a:r>
          </a:p>
        </p:txBody>
      </p:sp>
      <p:pic>
        <p:nvPicPr>
          <p:cNvPr id="12" name="Picture 11">
            <a:extLst>
              <a:ext uri="{FF2B5EF4-FFF2-40B4-BE49-F238E27FC236}">
                <a16:creationId xmlns:a16="http://schemas.microsoft.com/office/drawing/2014/main" id="{C587D689-F99B-7D98-3FB4-65B5B1939B66}"/>
              </a:ext>
            </a:extLst>
          </p:cNvPr>
          <p:cNvPicPr>
            <a:picLocks noChangeAspect="1"/>
          </p:cNvPicPr>
          <p:nvPr/>
        </p:nvPicPr>
        <p:blipFill>
          <a:blip r:embed="rId2"/>
          <a:stretch>
            <a:fillRect/>
          </a:stretch>
        </p:blipFill>
        <p:spPr>
          <a:xfrm>
            <a:off x="323850" y="1578895"/>
            <a:ext cx="3711213" cy="1414924"/>
          </a:xfrm>
          <a:prstGeom prst="rect">
            <a:avLst/>
          </a:prstGeom>
        </p:spPr>
      </p:pic>
    </p:spTree>
    <p:extLst>
      <p:ext uri="{BB962C8B-B14F-4D97-AF65-F5344CB8AC3E}">
        <p14:creationId xmlns:p14="http://schemas.microsoft.com/office/powerpoint/2010/main" val="4131341475"/>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6B3D3-F5B8-119B-C2E0-85E7AD951780}"/>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A84C6664-438D-48D6-368C-A1EF7950C114}"/>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B3177538-22EF-FDA1-783A-B5B17F2B3028}"/>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2C6B6ACE-1072-1F91-81D2-9AAFD0EB7BE7}"/>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33EB0D2A-961B-F381-CB6A-3600DEF9D97F}"/>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0391E197-BC6B-E528-340C-8D978923674A}"/>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A71D1F55-4B1B-3B2C-6DAF-2CDFCB8A5977}"/>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979B6FAD-7CE5-B1F4-F8B2-8584F8817181}"/>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13</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A37BA6E-EAFC-C3C7-FA54-760EAF25B6B6}"/>
              </a:ext>
            </a:extLst>
          </p:cNvPr>
          <p:cNvSpPr txBox="1"/>
          <p:nvPr/>
        </p:nvSpPr>
        <p:spPr>
          <a:xfrm>
            <a:off x="172491" y="413402"/>
            <a:ext cx="4181869" cy="1107996"/>
          </a:xfrm>
          <a:prstGeom prst="rect">
            <a:avLst/>
          </a:prstGeom>
          <a:noFill/>
        </p:spPr>
        <p:txBody>
          <a:bodyPr wrap="square" rtlCol="0">
            <a:spAutoFit/>
          </a:bodyPr>
          <a:lstStyle/>
          <a:p>
            <a:pPr algn="just"/>
            <a:r>
              <a:rPr lang="en-US" sz="1100" b="1" dirty="0">
                <a:latin typeface="Times New Roman" panose="02020603050405020304" pitchFamily="18" charset="0"/>
                <a:ea typeface="Tahoma" panose="020B0604030504040204" pitchFamily="34" charset="0"/>
                <a:cs typeface="Times New Roman" panose="02020603050405020304" pitchFamily="18" charset="0"/>
              </a:rPr>
              <a:t>Entitlement and Verification Agents:</a:t>
            </a:r>
          </a:p>
          <a:p>
            <a:pPr algn="just"/>
            <a:r>
              <a:rPr lang="en-US" sz="1100" dirty="0">
                <a:latin typeface="Times New Roman" panose="02020603050405020304" pitchFamily="18" charset="0"/>
                <a:cs typeface="Times New Roman" panose="02020603050405020304" pitchFamily="18" charset="0"/>
              </a:rPr>
              <a:t>The Entitlement Agent converts retrieved benefit rules into deterministic computations such as pension tiers, ration quantum and fee waivers, so arithmetic is never hallucinated. The Verification Agent independently re-checks every eligibility condition and the document list; any disagreement between agents forces a needs-info verdict instead of a wrong answer.</a:t>
            </a:r>
            <a:endParaRPr lang="en-US" sz="11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4530BE9A-D66A-3F05-FAEF-26D86BDF2EE8}"/>
              </a:ext>
            </a:extLst>
          </p:cNvPr>
          <p:cNvSpPr txBox="1"/>
          <p:nvPr/>
        </p:nvSpPr>
        <p:spPr>
          <a:xfrm>
            <a:off x="1623844" y="3030443"/>
            <a:ext cx="2438400" cy="415498"/>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Fig 5. Entitlement Computation and Cross-Check</a:t>
            </a:r>
          </a:p>
          <a:p>
            <a:endParaRPr lang="en-US" sz="1050" b="1" dirty="0">
              <a:latin typeface="Times New Roman" panose="02020603050405020304" pitchFamily="18" charset="0"/>
              <a:cs typeface="Times New Roman" panose="02020603050405020304" pitchFamily="18" charset="0"/>
            </a:endParaRPr>
          </a:p>
        </p:txBody>
      </p:sp>
      <p:sp>
        <p:nvSpPr>
          <p:cNvPr id="3" name="object 2">
            <a:extLst>
              <a:ext uri="{FF2B5EF4-FFF2-40B4-BE49-F238E27FC236}">
                <a16:creationId xmlns:a16="http://schemas.microsoft.com/office/drawing/2014/main" id="{9336BA44-5B65-AAA7-5E5E-7801425165DA}"/>
              </a:ext>
            </a:extLst>
          </p:cNvPr>
          <p:cNvSpPr txBox="1">
            <a:spLocks noGrp="1"/>
          </p:cNvSpPr>
          <p:nvPr>
            <p:ph type="title"/>
          </p:nvPr>
        </p:nvSpPr>
        <p:spPr>
          <a:xfrm>
            <a:off x="95300" y="59878"/>
            <a:ext cx="3657550" cy="232756"/>
          </a:xfrm>
          <a:prstGeom prst="rect">
            <a:avLst/>
          </a:prstGeom>
        </p:spPr>
        <p:txBody>
          <a:bodyPr vert="horz" wrap="square" lIns="0" tIns="17145" rIns="0" bIns="0" rtlCol="0">
            <a:spAutoFit/>
          </a:bodyPr>
          <a:lstStyle/>
          <a:p>
            <a:pPr marL="12700">
              <a:lnSpc>
                <a:spcPct val="100000"/>
              </a:lnSpc>
              <a:spcBef>
                <a:spcPts val="135"/>
              </a:spcBef>
            </a:pPr>
            <a:r>
              <a:rPr lang="en-US" spc="-65" dirty="0">
                <a:latin typeface="Times New Roman" panose="02020603050405020304" pitchFamily="18" charset="0"/>
                <a:cs typeface="Times New Roman" panose="02020603050405020304" pitchFamily="18" charset="0"/>
              </a:rPr>
              <a:t>Algorithmic Approach[3/4]</a:t>
            </a:r>
            <a:endParaRPr spc="-25"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37E83CB-7504-7E63-4FBA-BB7867833399}"/>
              </a:ext>
            </a:extLst>
          </p:cNvPr>
          <p:cNvPicPr>
            <a:picLocks noChangeAspect="1"/>
          </p:cNvPicPr>
          <p:nvPr/>
        </p:nvPicPr>
        <p:blipFill>
          <a:blip r:embed="rId2"/>
          <a:stretch>
            <a:fillRect/>
          </a:stretch>
        </p:blipFill>
        <p:spPr>
          <a:xfrm>
            <a:off x="1060110" y="1713470"/>
            <a:ext cx="2822623" cy="1316973"/>
          </a:xfrm>
          <a:prstGeom prst="rect">
            <a:avLst/>
          </a:prstGeom>
        </p:spPr>
      </p:pic>
    </p:spTree>
    <p:extLst>
      <p:ext uri="{BB962C8B-B14F-4D97-AF65-F5344CB8AC3E}">
        <p14:creationId xmlns:p14="http://schemas.microsoft.com/office/powerpoint/2010/main" val="656181300"/>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2E5FC-D3A1-0172-3555-AC8DC33FA168}"/>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1DA32611-90B4-C540-A09F-255969E7E1DB}"/>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F879CF67-B452-5EFB-F900-F7DBED5030D4}"/>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E5C0D8B3-344A-1D0B-C106-A8754CD33C97}"/>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8835B8B5-2E56-4C03-CBC7-75C94ED06CD7}"/>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E0DE6C8B-3648-F80E-6FB4-F8BEBB970CB6}"/>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CB028D53-B8F0-9561-DA0A-C3E4EEAB9D23}"/>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D6F9B2E4-5CC7-B0E4-80EC-B9D1781E7C66}"/>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14</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52AFCB1-A1A3-3D5D-4B41-4D87EB6D7426}"/>
              </a:ext>
            </a:extLst>
          </p:cNvPr>
          <p:cNvSpPr txBox="1"/>
          <p:nvPr/>
        </p:nvSpPr>
        <p:spPr>
          <a:xfrm>
            <a:off x="172491" y="413402"/>
            <a:ext cx="4181869" cy="938719"/>
          </a:xfrm>
          <a:prstGeom prst="rect">
            <a:avLst/>
          </a:prstGeom>
          <a:noFill/>
        </p:spPr>
        <p:txBody>
          <a:bodyPr wrap="square" rtlCol="0">
            <a:spAutoFit/>
          </a:bodyPr>
          <a:lstStyle/>
          <a:p>
            <a:pPr algn="just"/>
            <a:r>
              <a:rPr lang="en-US" sz="1100" b="1" dirty="0">
                <a:latin typeface="Times New Roman" panose="02020603050405020304" pitchFamily="18" charset="0"/>
                <a:ea typeface="Tahoma" panose="020B0604030504040204" pitchFamily="34" charset="0"/>
                <a:cs typeface="Times New Roman" panose="02020603050405020304" pitchFamily="18" charset="0"/>
              </a:rPr>
              <a:t>Orchestrator, Evaluation and Appeal Agents:</a:t>
            </a:r>
          </a:p>
          <a:p>
            <a:pPr algn="just"/>
            <a:r>
              <a:rPr lang="en-US" sz="1100" b="0" i="0" dirty="0">
                <a:effectLst/>
                <a:latin typeface="Times New Roman" panose="02020603050405020304" pitchFamily="18" charset="0"/>
                <a:cs typeface="Times New Roman" panose="02020603050405020304" pitchFamily="18" charset="0"/>
              </a:rPr>
              <a:t>The LangGraph Orchestrator merges all agent outputs into a verdict with explanation, cited evidence clauses and a confidence score, holding low-confidence cases at a human-approval gate. The Evaluation Agent then scores the result against YojanaBench ground truth, while the Appeal Agent routes every rejection to the correct appeal channel with a ready draft appeal letter.</a:t>
            </a:r>
            <a:endParaRPr lang="en-US" sz="11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34989EDC-725E-4DAE-F6F4-0EC55B17330C}"/>
              </a:ext>
            </a:extLst>
          </p:cNvPr>
          <p:cNvSpPr txBox="1"/>
          <p:nvPr/>
        </p:nvSpPr>
        <p:spPr>
          <a:xfrm>
            <a:off x="1623844" y="3030443"/>
            <a:ext cx="2438400" cy="261610"/>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Fig 6. Verdict, Scoring and Appeal Routing</a:t>
            </a:r>
          </a:p>
        </p:txBody>
      </p:sp>
      <p:sp>
        <p:nvSpPr>
          <p:cNvPr id="3" name="object 2">
            <a:extLst>
              <a:ext uri="{FF2B5EF4-FFF2-40B4-BE49-F238E27FC236}">
                <a16:creationId xmlns:a16="http://schemas.microsoft.com/office/drawing/2014/main" id="{65D77563-48FF-AB5D-804B-06A378458390}"/>
              </a:ext>
            </a:extLst>
          </p:cNvPr>
          <p:cNvSpPr txBox="1">
            <a:spLocks noGrp="1"/>
          </p:cNvSpPr>
          <p:nvPr>
            <p:ph type="title"/>
          </p:nvPr>
        </p:nvSpPr>
        <p:spPr>
          <a:xfrm>
            <a:off x="95300" y="59878"/>
            <a:ext cx="3657550" cy="232756"/>
          </a:xfrm>
          <a:prstGeom prst="rect">
            <a:avLst/>
          </a:prstGeom>
        </p:spPr>
        <p:txBody>
          <a:bodyPr vert="horz" wrap="square" lIns="0" tIns="17145" rIns="0" bIns="0" rtlCol="0">
            <a:spAutoFit/>
          </a:bodyPr>
          <a:lstStyle/>
          <a:p>
            <a:pPr marL="12700">
              <a:lnSpc>
                <a:spcPct val="100000"/>
              </a:lnSpc>
              <a:spcBef>
                <a:spcPts val="135"/>
              </a:spcBef>
            </a:pPr>
            <a:r>
              <a:rPr lang="en-US" spc="-65" dirty="0">
                <a:latin typeface="Times New Roman" panose="02020603050405020304" pitchFamily="18" charset="0"/>
                <a:cs typeface="Times New Roman" panose="02020603050405020304" pitchFamily="18" charset="0"/>
              </a:rPr>
              <a:t>Algorithmic Approach[4/4]</a:t>
            </a:r>
            <a:endParaRPr spc="-25"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BF705DEC-3A91-DB13-D798-6B3FC23C77DE}"/>
              </a:ext>
            </a:extLst>
          </p:cNvPr>
          <p:cNvPicPr>
            <a:picLocks noChangeAspect="1"/>
          </p:cNvPicPr>
          <p:nvPr/>
        </p:nvPicPr>
        <p:blipFill>
          <a:blip r:embed="rId2"/>
          <a:stretch>
            <a:fillRect/>
          </a:stretch>
        </p:blipFill>
        <p:spPr>
          <a:xfrm>
            <a:off x="400050" y="1472889"/>
            <a:ext cx="3781819" cy="1542890"/>
          </a:xfrm>
          <a:prstGeom prst="rect">
            <a:avLst/>
          </a:prstGeom>
        </p:spPr>
      </p:pic>
    </p:spTree>
    <p:extLst>
      <p:ext uri="{BB962C8B-B14F-4D97-AF65-F5344CB8AC3E}">
        <p14:creationId xmlns:p14="http://schemas.microsoft.com/office/powerpoint/2010/main" val="1839695015"/>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A9422-AA37-A1B3-540F-049272DE2C93}"/>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62F84EE6-5F1B-F8D0-56FA-F7CC32CE541F}"/>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3DBA3FCA-73EB-A0E4-27ED-3CFAF3599699}"/>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24302F4C-66E3-C7FF-0D35-5D1583CFE9C1}"/>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2FF087EE-501E-0E96-AEFD-7C49468BC17E}"/>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09D73223-673B-6CBD-8E22-CFBA4E56193C}"/>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32F586A1-A895-13D0-EA44-821C20BB203B}"/>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B334E32D-CC0B-C662-83AA-15B965548BB7}"/>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15</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5756CBA-3CDA-FB2B-68D2-46E36CA51E09}"/>
              </a:ext>
            </a:extLst>
          </p:cNvPr>
          <p:cNvSpPr txBox="1"/>
          <p:nvPr/>
        </p:nvSpPr>
        <p:spPr>
          <a:xfrm>
            <a:off x="172491" y="413402"/>
            <a:ext cx="4181869" cy="1277273"/>
          </a:xfrm>
          <a:prstGeom prst="rect">
            <a:avLst/>
          </a:prstGeom>
          <a:noFill/>
        </p:spPr>
        <p:txBody>
          <a:bodyPr wrap="square" rtlCol="0">
            <a:spAutoFit/>
          </a:bodyPr>
          <a:lstStyle/>
          <a:p>
            <a:pPr algn="just"/>
            <a:r>
              <a:rPr lang="en-US" sz="1100" b="1" dirty="0">
                <a:latin typeface="Times New Roman" panose="02020603050405020304" pitchFamily="18" charset="0"/>
                <a:ea typeface="Tahoma" panose="020B0604030504040204" pitchFamily="34" charset="0"/>
                <a:cs typeface="Times New Roman" panose="02020603050405020304" pitchFamily="18" charset="0"/>
              </a:rPr>
              <a:t>Multi-Agent Audit Flow:</a:t>
            </a:r>
          </a:p>
          <a:p>
            <a:pPr algn="just"/>
            <a:r>
              <a:rPr lang="en-US" sz="1100" dirty="0">
                <a:latin typeface="Times New Roman" panose="02020603050405020304" pitchFamily="18" charset="0"/>
                <a:cs typeface="Times New Roman" panose="02020603050405020304" pitchFamily="18" charset="0"/>
              </a:rPr>
              <a:t>Scheme PDFs are indexed once by the Corpus Agent; every application then flows through Intake, RAG, Entitlement and Verification before the Orchestrator issues the verdict. The Evaluation Agent scores it and the Appeal Agent handles rejections. Each step is a separate testable node in the LangGraph state machine, which makes ablation studies straightforward.</a:t>
            </a:r>
            <a:endParaRPr lang="en-US" sz="11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CDDD017A-CD0D-5E73-F7D4-D94B23625348}"/>
              </a:ext>
            </a:extLst>
          </p:cNvPr>
          <p:cNvSpPr txBox="1"/>
          <p:nvPr/>
        </p:nvSpPr>
        <p:spPr>
          <a:xfrm>
            <a:off x="1623844" y="3030443"/>
            <a:ext cx="2438400" cy="261610"/>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Fig 7. Multi-Agent Audit Workflow</a:t>
            </a:r>
          </a:p>
        </p:txBody>
      </p:sp>
      <p:sp>
        <p:nvSpPr>
          <p:cNvPr id="3" name="object 2">
            <a:extLst>
              <a:ext uri="{FF2B5EF4-FFF2-40B4-BE49-F238E27FC236}">
                <a16:creationId xmlns:a16="http://schemas.microsoft.com/office/drawing/2014/main" id="{84A7AB11-D303-36C4-278E-75EEF297FBB1}"/>
              </a:ext>
            </a:extLst>
          </p:cNvPr>
          <p:cNvSpPr txBox="1">
            <a:spLocks noGrp="1"/>
          </p:cNvSpPr>
          <p:nvPr>
            <p:ph type="title"/>
          </p:nvPr>
        </p:nvSpPr>
        <p:spPr>
          <a:xfrm>
            <a:off x="95300" y="59878"/>
            <a:ext cx="3657550" cy="232756"/>
          </a:xfrm>
          <a:prstGeom prst="rect">
            <a:avLst/>
          </a:prstGeom>
        </p:spPr>
        <p:txBody>
          <a:bodyPr vert="horz" wrap="square" lIns="0" tIns="17145" rIns="0" bIns="0" rtlCol="0">
            <a:spAutoFit/>
          </a:bodyPr>
          <a:lstStyle/>
          <a:p>
            <a:pPr marL="12700">
              <a:lnSpc>
                <a:spcPct val="100000"/>
              </a:lnSpc>
              <a:spcBef>
                <a:spcPts val="135"/>
              </a:spcBef>
            </a:pPr>
            <a:r>
              <a:rPr lang="en-US" spc="-65" dirty="0">
                <a:latin typeface="Times New Roman" panose="02020603050405020304" pitchFamily="18" charset="0"/>
                <a:cs typeface="Times New Roman" panose="02020603050405020304" pitchFamily="18" charset="0"/>
              </a:rPr>
              <a:t>End-to-End Workflow</a:t>
            </a:r>
            <a:endParaRPr spc="-25"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9DC7035-CB61-F1C9-0CC3-FE3E4314AC3B}"/>
              </a:ext>
            </a:extLst>
          </p:cNvPr>
          <p:cNvPicPr>
            <a:picLocks noChangeAspect="1"/>
          </p:cNvPicPr>
          <p:nvPr/>
        </p:nvPicPr>
        <p:blipFill>
          <a:blip r:embed="rId2"/>
          <a:stretch>
            <a:fillRect/>
          </a:stretch>
        </p:blipFill>
        <p:spPr>
          <a:xfrm>
            <a:off x="767956" y="1889265"/>
            <a:ext cx="3125746" cy="1099731"/>
          </a:xfrm>
          <a:prstGeom prst="rect">
            <a:avLst/>
          </a:prstGeom>
        </p:spPr>
      </p:pic>
    </p:spTree>
    <p:extLst>
      <p:ext uri="{BB962C8B-B14F-4D97-AF65-F5344CB8AC3E}">
        <p14:creationId xmlns:p14="http://schemas.microsoft.com/office/powerpoint/2010/main" val="3175217327"/>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14C53-E47C-5DE5-98EF-5C8AFB7381D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0D094C-3D9F-E3A8-299D-107394F05ADA}"/>
              </a:ext>
            </a:extLst>
          </p:cNvPr>
          <p:cNvSpPr txBox="1">
            <a:spLocks noGrp="1"/>
          </p:cNvSpPr>
          <p:nvPr>
            <p:ph type="title"/>
          </p:nvPr>
        </p:nvSpPr>
        <p:spPr>
          <a:xfrm>
            <a:off x="95300" y="59878"/>
            <a:ext cx="3657550" cy="232756"/>
          </a:xfrm>
          <a:prstGeom prst="rect">
            <a:avLst/>
          </a:prstGeom>
        </p:spPr>
        <p:txBody>
          <a:bodyPr vert="horz" wrap="square" lIns="0" tIns="17145" rIns="0" bIns="0" rtlCol="0">
            <a:spAutoFit/>
          </a:bodyPr>
          <a:lstStyle/>
          <a:p>
            <a:pPr marL="12700">
              <a:lnSpc>
                <a:spcPct val="100000"/>
              </a:lnSpc>
              <a:spcBef>
                <a:spcPts val="135"/>
              </a:spcBef>
            </a:pPr>
            <a:r>
              <a:rPr lang="en-US" spc="-65" dirty="0">
                <a:latin typeface="Times New Roman" panose="02020603050405020304" pitchFamily="18" charset="0"/>
                <a:cs typeface="Times New Roman" panose="02020603050405020304" pitchFamily="18" charset="0"/>
              </a:rPr>
              <a:t>Datasets Used   </a:t>
            </a:r>
            <a:endParaRPr spc="-25" dirty="0">
              <a:latin typeface="Times New Roman" panose="02020603050405020304" pitchFamily="18" charset="0"/>
              <a:cs typeface="Times New Roman" panose="02020603050405020304" pitchFamily="18" charset="0"/>
            </a:endParaRPr>
          </a:p>
        </p:txBody>
      </p:sp>
      <p:grpSp>
        <p:nvGrpSpPr>
          <p:cNvPr id="4" name="object 4">
            <a:extLst>
              <a:ext uri="{FF2B5EF4-FFF2-40B4-BE49-F238E27FC236}">
                <a16:creationId xmlns:a16="http://schemas.microsoft.com/office/drawing/2014/main" id="{CA9B77CA-81F7-B6A3-A89D-4012409951F3}"/>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F07AFCAA-FD5F-4B2A-B502-8855CC2167D3}"/>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9B4E905D-C677-A77E-E5DD-02DFE401CE5C}"/>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2045AA37-C644-E99E-47B6-D4CA82FAE8BF}"/>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D49CD86D-EE28-8E12-13E8-2C49C37BEF54}"/>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F698B691-E7CA-5CB7-93F5-834C11730944}"/>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A9936991-08BF-9F59-F62A-06AE707CD72E}"/>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16</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C9FB556-AF6C-0402-94AC-686E02B652E5}"/>
              </a:ext>
            </a:extLst>
          </p:cNvPr>
          <p:cNvSpPr txBox="1"/>
          <p:nvPr/>
        </p:nvSpPr>
        <p:spPr>
          <a:xfrm>
            <a:off x="1623844" y="3030443"/>
            <a:ext cx="2438400" cy="261610"/>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Fig 8. YojanaBench Dataset Statistics</a:t>
            </a:r>
          </a:p>
        </p:txBody>
      </p:sp>
      <p:sp>
        <p:nvSpPr>
          <p:cNvPr id="15" name="TextBox 14">
            <a:extLst>
              <a:ext uri="{FF2B5EF4-FFF2-40B4-BE49-F238E27FC236}">
                <a16:creationId xmlns:a16="http://schemas.microsoft.com/office/drawing/2014/main" id="{31C6E379-645E-009C-852F-25C5D8FFF231}"/>
              </a:ext>
            </a:extLst>
          </p:cNvPr>
          <p:cNvSpPr txBox="1"/>
          <p:nvPr/>
        </p:nvSpPr>
        <p:spPr>
          <a:xfrm>
            <a:off x="-57150" y="329706"/>
            <a:ext cx="4648807" cy="1785104"/>
          </a:xfrm>
          <a:prstGeom prst="rect">
            <a:avLst/>
          </a:prstGeom>
          <a:noFill/>
        </p:spPr>
        <p:txBody>
          <a:bodyPr wrap="square">
            <a:spAutoFit/>
          </a:bodyPr>
          <a:lstStyle/>
          <a:p>
            <a:r>
              <a:rPr lang="en-US" sz="1000" b="1" dirty="0">
                <a:latin typeface="Times New Roman" panose="02020603050405020304" pitchFamily="18" charset="0"/>
                <a:cs typeface="Times New Roman" panose="02020603050405020304" pitchFamily="18" charset="0"/>
              </a:rPr>
              <a:t>YojanaBench Dataset</a:t>
            </a:r>
          </a:p>
          <a:p>
            <a:pPr>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Source: Real, publicly available guideline PDFs of 10 to 15 high-volume central and state welfare schemes covering ration, pensions, scholarships, employment and beneficiary aid.</a:t>
            </a:r>
          </a:p>
          <a:p>
            <a:pPr>
              <a:buFont typeface="Arial" panose="020B0604020202020204" pitchFamily="34" charset="0"/>
              <a:buChar char="•"/>
            </a:pPr>
            <a:r>
              <a:rPr lang="en-US" sz="1000" b="1" dirty="0">
                <a:latin typeface="Times New Roman" panose="02020603050405020304" pitchFamily="18" charset="0"/>
                <a:cs typeface="Times New Roman" panose="02020603050405020304" pitchFamily="18" charset="0"/>
              </a:rPr>
              <a:t>Size: Schema-structured chunks, more than 1,000 human-verified QA pairs and about 25 percent counterfactual or edge-case variants.</a:t>
            </a:r>
          </a:p>
          <a:p>
            <a:r>
              <a:rPr lang="en-US" sz="1000" b="1" dirty="0">
                <a:latin typeface="Times New Roman" panose="02020603050405020304" pitchFamily="18" charset="0"/>
                <a:cs typeface="Times New Roman" panose="02020603050405020304" pitchFamily="18" charset="0"/>
              </a:rPr>
              <a:t>QA Categories</a:t>
            </a:r>
          </a:p>
          <a:p>
            <a:r>
              <a:rPr lang="en-US" sz="1000" dirty="0">
                <a:latin typeface="Times New Roman" panose="02020603050405020304" pitchFamily="18" charset="0"/>
                <a:cs typeface="Times New Roman" panose="02020603050405020304" pitchFamily="18" charset="0"/>
              </a:rPr>
              <a:t>Every question is annotated under one of four categories:</a:t>
            </a:r>
          </a:p>
          <a:p>
            <a:pPr>
              <a:buFont typeface="+mj-lt"/>
              <a:buAutoNum type="arabicPeriod"/>
            </a:pPr>
            <a:r>
              <a:rPr lang="en-US" sz="1000" b="1" dirty="0">
                <a:latin typeface="Times New Roman" panose="02020603050405020304" pitchFamily="18" charset="0"/>
                <a:cs typeface="Times New Roman" panose="02020603050405020304" pitchFamily="18" charset="0"/>
              </a:rPr>
              <a:t>Eligibility and Entitlement — is the applicant eligible, and what exact benefit amount or quantity must be paid?</a:t>
            </a:r>
          </a:p>
          <a:p>
            <a:pPr>
              <a:buFont typeface="+mj-lt"/>
              <a:buAutoNum type="arabicPeriod"/>
            </a:pPr>
            <a:r>
              <a:rPr lang="en-US" sz="1000" b="1" dirty="0">
                <a:latin typeface="Times New Roman" panose="02020603050405020304" pitchFamily="18" charset="0"/>
                <a:cs typeface="Times New Roman" panose="02020603050405020304" pitchFamily="18" charset="0"/>
              </a:rPr>
              <a:t>Documents and Appeal — which certificates are required, and which appeal channel handles a rejection. Each item carries a reference answer, a verdict label of eligible, ineligible or needs-info, cited evidence clause IDs and an expert-verified ground truth.</a:t>
            </a:r>
          </a:p>
        </p:txBody>
      </p:sp>
      <p:pic>
        <p:nvPicPr>
          <p:cNvPr id="18" name="Picture 17">
            <a:extLst>
              <a:ext uri="{FF2B5EF4-FFF2-40B4-BE49-F238E27FC236}">
                <a16:creationId xmlns:a16="http://schemas.microsoft.com/office/drawing/2014/main" id="{026ECE14-83B2-21BB-57DA-7BA9C3158D0A}"/>
              </a:ext>
            </a:extLst>
          </p:cNvPr>
          <p:cNvPicPr>
            <a:picLocks noChangeAspect="1"/>
          </p:cNvPicPr>
          <p:nvPr/>
        </p:nvPicPr>
        <p:blipFill>
          <a:blip r:embed="rId2"/>
          <a:srcRect b="28345"/>
          <a:stretch/>
        </p:blipFill>
        <p:spPr>
          <a:xfrm>
            <a:off x="0" y="2114809"/>
            <a:ext cx="4610100" cy="915633"/>
          </a:xfrm>
          <a:prstGeom prst="rect">
            <a:avLst/>
          </a:prstGeom>
        </p:spPr>
      </p:pic>
    </p:spTree>
    <p:extLst>
      <p:ext uri="{BB962C8B-B14F-4D97-AF65-F5344CB8AC3E}">
        <p14:creationId xmlns:p14="http://schemas.microsoft.com/office/powerpoint/2010/main" val="2936936427"/>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CE8F1-7750-A246-24A8-BDACCC81EA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6CD7C4-F4B3-5386-B5B9-1E7C8DC2F91E}"/>
              </a:ext>
            </a:extLst>
          </p:cNvPr>
          <p:cNvSpPr txBox="1">
            <a:spLocks noGrp="1"/>
          </p:cNvSpPr>
          <p:nvPr>
            <p:ph type="title"/>
          </p:nvPr>
        </p:nvSpPr>
        <p:spPr>
          <a:xfrm>
            <a:off x="95300" y="59878"/>
            <a:ext cx="3657550" cy="448200"/>
          </a:xfrm>
          <a:prstGeom prst="rect">
            <a:avLst/>
          </a:prstGeom>
        </p:spPr>
        <p:txBody>
          <a:bodyPr vert="horz" wrap="square" lIns="0" tIns="17145" rIns="0" bIns="0" rtlCol="0">
            <a:spAutoFit/>
          </a:bodyPr>
          <a:lstStyle/>
          <a:p>
            <a:pPr marL="12700">
              <a:spcBef>
                <a:spcPts val="135"/>
              </a:spcBef>
            </a:pPr>
            <a:r>
              <a:rPr lang="en-US" sz="1400" spc="-35" dirty="0">
                <a:latin typeface="Times New Roman" panose="02020603050405020304" pitchFamily="18" charset="0"/>
                <a:cs typeface="Times New Roman" panose="02020603050405020304" pitchFamily="18" charset="0"/>
              </a:rPr>
              <a:t>Environmental</a:t>
            </a:r>
            <a:r>
              <a:rPr lang="en-US" sz="1400" spc="-5" dirty="0">
                <a:latin typeface="Times New Roman" panose="02020603050405020304" pitchFamily="18" charset="0"/>
                <a:cs typeface="Times New Roman" panose="02020603050405020304" pitchFamily="18" charset="0"/>
              </a:rPr>
              <a:t> </a:t>
            </a:r>
            <a:r>
              <a:rPr lang="en-US" sz="1400" spc="-35" dirty="0">
                <a:latin typeface="Times New Roman" panose="02020603050405020304" pitchFamily="18" charset="0"/>
                <a:cs typeface="Times New Roman" panose="02020603050405020304" pitchFamily="18" charset="0"/>
              </a:rPr>
              <a:t>Setup</a:t>
            </a:r>
            <a:br>
              <a:rPr lang="en-US" sz="1400" dirty="0">
                <a:latin typeface="Times New Roman" panose="02020603050405020304" pitchFamily="18" charset="0"/>
                <a:cs typeface="Times New Roman" panose="02020603050405020304" pitchFamily="18" charset="0"/>
              </a:rPr>
            </a:br>
            <a:endParaRPr spc="-25" dirty="0">
              <a:latin typeface="Times New Roman" panose="02020603050405020304" pitchFamily="18" charset="0"/>
              <a:cs typeface="Times New Roman" panose="02020603050405020304" pitchFamily="18" charset="0"/>
            </a:endParaRPr>
          </a:p>
        </p:txBody>
      </p:sp>
      <p:grpSp>
        <p:nvGrpSpPr>
          <p:cNvPr id="4" name="object 4">
            <a:extLst>
              <a:ext uri="{FF2B5EF4-FFF2-40B4-BE49-F238E27FC236}">
                <a16:creationId xmlns:a16="http://schemas.microsoft.com/office/drawing/2014/main" id="{3C3EC999-2E20-894F-82DC-7AB23060B286}"/>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F70B7129-A721-A338-9091-A1803D0AE989}"/>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A9251E0F-7030-703D-0FB8-D2DC71948DEE}"/>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F209DFF2-ACB0-A27A-EF6E-89CC5169E734}"/>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C2C789A6-AA27-02A8-4295-DFE7CEDCC027}"/>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E196119F-9CD0-2CDC-27A7-859E41DB60E2}"/>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44C636DB-BE80-E7C3-7F52-73DE23DF21A6}"/>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17</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286A88E-9030-4692-275C-FF38C20041FC}"/>
              </a:ext>
            </a:extLst>
          </p:cNvPr>
          <p:cNvSpPr/>
          <p:nvPr/>
        </p:nvSpPr>
        <p:spPr>
          <a:xfrm>
            <a:off x="2838450" y="815975"/>
            <a:ext cx="685800" cy="228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C6B8CA55-9654-A1CC-4384-FA22C288F186}"/>
              </a:ext>
            </a:extLst>
          </p:cNvPr>
          <p:cNvSpPr txBox="1"/>
          <p:nvPr/>
        </p:nvSpPr>
        <p:spPr>
          <a:xfrm>
            <a:off x="17328" y="369171"/>
            <a:ext cx="4528107" cy="2982868"/>
          </a:xfrm>
          <a:prstGeom prst="rect">
            <a:avLst/>
          </a:prstGeom>
          <a:noFill/>
        </p:spPr>
        <p:txBody>
          <a:bodyPr wrap="square">
            <a:spAutoFit/>
          </a:bodyPr>
          <a:lstStyle/>
          <a:p>
            <a:pPr marR="10160">
              <a:spcBef>
                <a:spcPts val="50"/>
              </a:spcBef>
            </a:pPr>
            <a:r>
              <a:rPr lang="en-US" sz="1100" b="1" spc="-5" dirty="0">
                <a:effectLst/>
                <a:latin typeface="Times New Roman" panose="02020603050405020304" pitchFamily="18" charset="0"/>
                <a:ea typeface="Times New Roman" panose="02020603050405020304" pitchFamily="18" charset="0"/>
              </a:rPr>
              <a:t>Software Requirements </a:t>
            </a:r>
            <a:endParaRPr lang="en-US" sz="1800" dirty="0">
              <a:effectLst/>
              <a:latin typeface="Times New Roman" panose="02020603050405020304" pitchFamily="18" charset="0"/>
              <a:ea typeface="Times New Roman" panose="02020603050405020304" pitchFamily="18" charset="0"/>
            </a:endParaRPr>
          </a:p>
          <a:p>
            <a:pPr marL="171450" marR="10160" indent="-171450">
              <a:spcBef>
                <a:spcPts val="50"/>
              </a:spcBef>
              <a:buFont typeface="Arial" panose="020B0604020202020204" pitchFamily="34" charset="0"/>
              <a:buChar char="•"/>
            </a:pPr>
            <a:r>
              <a:rPr lang="en-US" sz="1100" spc="-5" dirty="0">
                <a:effectLst/>
                <a:latin typeface="Times New Roman" panose="02020603050405020304" pitchFamily="18" charset="0"/>
                <a:ea typeface="Times New Roman" panose="02020603050405020304" pitchFamily="18" charset="0"/>
              </a:rPr>
              <a:t>IDE                       : VS Code , LangGraph </a:t>
            </a:r>
            <a:endParaRPr lang="en-US" sz="1100" dirty="0">
              <a:effectLst/>
              <a:latin typeface="Times New Roman" panose="02020603050405020304" pitchFamily="18" charset="0"/>
              <a:ea typeface="Times New Roman" panose="02020603050405020304" pitchFamily="18" charset="0"/>
            </a:endParaRPr>
          </a:p>
          <a:p>
            <a:pPr marL="171450" marR="10160" indent="-171450">
              <a:spcBef>
                <a:spcPts val="50"/>
              </a:spcBef>
              <a:buFont typeface="Arial" panose="020B0604020202020204" pitchFamily="34" charset="0"/>
              <a:buChar char="•"/>
            </a:pPr>
            <a:r>
              <a:rPr lang="en-US" sz="1100" spc="-5" dirty="0">
                <a:effectLst/>
                <a:latin typeface="Times New Roman" panose="02020603050405020304" pitchFamily="18" charset="0"/>
                <a:ea typeface="Times New Roman" panose="02020603050405020304" pitchFamily="18" charset="0"/>
              </a:rPr>
              <a:t>Coding Language : Python Version 3.10</a:t>
            </a:r>
            <a:endParaRPr lang="en-US" sz="1100" dirty="0">
              <a:effectLst/>
              <a:latin typeface="Times New Roman" panose="02020603050405020304" pitchFamily="18" charset="0"/>
              <a:ea typeface="Times New Roman" panose="02020603050405020304" pitchFamily="18" charset="0"/>
            </a:endParaRPr>
          </a:p>
          <a:p>
            <a:pPr marL="171450" marR="10160" indent="-171450">
              <a:spcBef>
                <a:spcPts val="50"/>
              </a:spcBef>
              <a:buFont typeface="Arial" panose="020B0604020202020204" pitchFamily="34" charset="0"/>
              <a:buChar char="•"/>
            </a:pPr>
            <a:r>
              <a:rPr lang="en-US" sz="1100" spc="-5" dirty="0">
                <a:effectLst/>
                <a:latin typeface="Times New Roman" panose="02020603050405020304" pitchFamily="18" charset="0"/>
                <a:ea typeface="Times New Roman" panose="02020603050405020304" pitchFamily="18" charset="0"/>
              </a:rPr>
              <a:t>LLM Runtime : Ollama (Llama 3 / Qwen), zero API cost</a:t>
            </a:r>
            <a:endParaRPr lang="hi-Latn-IN" sz="1100" spc="-5" dirty="0">
              <a:effectLst/>
              <a:latin typeface="Times New Roman" panose="02020603050405020304" pitchFamily="18" charset="0"/>
              <a:ea typeface="Times New Roman" panose="02020603050405020304" pitchFamily="18" charset="0"/>
            </a:endParaRPr>
          </a:p>
          <a:p>
            <a:pPr marL="171450" marR="10160" indent="-171450">
              <a:spcBef>
                <a:spcPts val="50"/>
              </a:spcBef>
              <a:buFont typeface="Arial" panose="020B0604020202020204" pitchFamily="34" charset="0"/>
              <a:buChar char="•"/>
            </a:pPr>
            <a:r>
              <a:rPr lang="en-US" sz="1100" spc="-5" dirty="0">
                <a:effectLst/>
                <a:latin typeface="Times New Roman" panose="02020603050405020304" pitchFamily="18" charset="0"/>
                <a:ea typeface="Times New Roman" panose="02020603050405020304" pitchFamily="18" charset="0"/>
              </a:rPr>
              <a:t>Dataset                  : YojanaBench scheme PDFs and QA pairs</a:t>
            </a:r>
            <a:endParaRPr lang="hi-Latn-IN" sz="1100" spc="-5" dirty="0">
              <a:effectLst/>
              <a:latin typeface="Times New Roman" panose="02020603050405020304" pitchFamily="18" charset="0"/>
              <a:ea typeface="Times New Roman" panose="02020603050405020304" pitchFamily="18" charset="0"/>
            </a:endParaRPr>
          </a:p>
          <a:p>
            <a:pPr marL="171450" marR="10160" indent="-171450">
              <a:spcBef>
                <a:spcPts val="50"/>
              </a:spcBef>
              <a:buFont typeface="Arial" panose="020B0604020202020204" pitchFamily="34" charset="0"/>
              <a:buChar char="•"/>
            </a:pPr>
            <a:r>
              <a:rPr lang="hi-Latn-IN" sz="1100" spc="-5" dirty="0">
                <a:latin typeface="Times New Roman" panose="02020603050405020304" pitchFamily="18" charset="0"/>
                <a:ea typeface="Times New Roman" panose="02020603050405020304" pitchFamily="18" charset="0"/>
              </a:rPr>
              <a:t>Database 	        : ChromaDB vector store + SQLite logs</a:t>
            </a:r>
            <a:endParaRPr lang="hi-Latn-IN" sz="1100" spc="-5" dirty="0">
              <a:effectLst/>
              <a:latin typeface="Times New Roman" panose="02020603050405020304" pitchFamily="18" charset="0"/>
              <a:ea typeface="Times New Roman" panose="02020603050405020304" pitchFamily="18" charset="0"/>
            </a:endParaRPr>
          </a:p>
          <a:p>
            <a:pPr marR="10160">
              <a:spcBef>
                <a:spcPts val="50"/>
              </a:spcBef>
            </a:pPr>
            <a:endParaRPr lang="en-US" sz="1100" dirty="0">
              <a:effectLst/>
              <a:latin typeface="Times New Roman" panose="02020603050405020304" pitchFamily="18" charset="0"/>
              <a:ea typeface="Times New Roman" panose="02020603050405020304" pitchFamily="18" charset="0"/>
            </a:endParaRPr>
          </a:p>
          <a:p>
            <a:pPr marR="10160">
              <a:spcBef>
                <a:spcPts val="50"/>
              </a:spcBef>
            </a:pPr>
            <a:r>
              <a:rPr lang="en-US" sz="1100" b="1" spc="-5" dirty="0">
                <a:effectLst/>
                <a:latin typeface="Times New Roman" panose="02020603050405020304" pitchFamily="18" charset="0"/>
                <a:ea typeface="Times New Roman" panose="02020603050405020304" pitchFamily="18" charset="0"/>
              </a:rPr>
              <a:t>Hardware Requirements</a:t>
            </a:r>
            <a:endParaRPr lang="en-US" sz="1100" dirty="0">
              <a:effectLst/>
              <a:latin typeface="Times New Roman" panose="02020603050405020304" pitchFamily="18" charset="0"/>
              <a:ea typeface="Times New Roman" panose="02020603050405020304" pitchFamily="18" charset="0"/>
            </a:endParaRPr>
          </a:p>
          <a:p>
            <a:pPr marL="171450" marR="10160" indent="-171450">
              <a:spcBef>
                <a:spcPts val="50"/>
              </a:spcBef>
              <a:buFont typeface="Arial" panose="020B0604020202020204" pitchFamily="34" charset="0"/>
              <a:buChar char="•"/>
            </a:pPr>
            <a:r>
              <a:rPr lang="en-US" sz="1100" spc="-5" dirty="0">
                <a:effectLst/>
                <a:latin typeface="Times New Roman" panose="02020603050405020304" pitchFamily="18" charset="0"/>
                <a:ea typeface="Times New Roman" panose="02020603050405020304" pitchFamily="18" charset="0"/>
              </a:rPr>
              <a:t>Laptop</a:t>
            </a:r>
            <a:endParaRPr lang="en-US" sz="1100" dirty="0">
              <a:effectLst/>
              <a:latin typeface="Times New Roman" panose="02020603050405020304" pitchFamily="18" charset="0"/>
              <a:ea typeface="Times New Roman" panose="02020603050405020304" pitchFamily="18" charset="0"/>
            </a:endParaRPr>
          </a:p>
          <a:p>
            <a:pPr marL="171450" marR="10160" indent="-171450">
              <a:spcBef>
                <a:spcPts val="50"/>
              </a:spcBef>
              <a:buFont typeface="Arial" panose="020B0604020202020204" pitchFamily="34" charset="0"/>
              <a:buChar char="•"/>
            </a:pPr>
            <a:r>
              <a:rPr lang="en-US" sz="1100" spc="-5" dirty="0">
                <a:effectLst/>
                <a:latin typeface="Times New Roman" panose="02020603050405020304" pitchFamily="18" charset="0"/>
                <a:ea typeface="Times New Roman" panose="02020603050405020304" pitchFamily="18" charset="0"/>
              </a:rPr>
              <a:t>Ram : 16 GB Min</a:t>
            </a:r>
            <a:endParaRPr lang="en-US" sz="1100" dirty="0">
              <a:effectLst/>
              <a:latin typeface="Times New Roman" panose="02020603050405020304" pitchFamily="18" charset="0"/>
              <a:ea typeface="Times New Roman" panose="02020603050405020304" pitchFamily="18" charset="0"/>
            </a:endParaRPr>
          </a:p>
          <a:p>
            <a:pPr marL="171450" marR="10160" indent="-171450">
              <a:spcBef>
                <a:spcPts val="50"/>
              </a:spcBef>
              <a:buFont typeface="Arial" panose="020B0604020202020204" pitchFamily="34" charset="0"/>
              <a:buChar char="•"/>
            </a:pPr>
            <a:r>
              <a:rPr lang="en-US" sz="1100" spc="-5" dirty="0">
                <a:effectLst/>
                <a:latin typeface="Times New Roman" panose="02020603050405020304" pitchFamily="18" charset="0"/>
                <a:ea typeface="Times New Roman" panose="02020603050405020304" pitchFamily="18" charset="0"/>
              </a:rPr>
              <a:t>Storage : 256 GB SSD min For the scheme PDF corpus, vector index and audit logs.</a:t>
            </a:r>
            <a:endParaRPr lang="en-US" sz="1100" dirty="0">
              <a:effectLst/>
              <a:latin typeface="Times New Roman" panose="02020603050405020304" pitchFamily="18" charset="0"/>
              <a:ea typeface="Times New Roman" panose="02020603050405020304" pitchFamily="18" charset="0"/>
            </a:endParaRPr>
          </a:p>
          <a:p>
            <a:pPr marL="171450" marR="10160" indent="-171450">
              <a:spcBef>
                <a:spcPts val="50"/>
              </a:spcBef>
              <a:buFont typeface="Arial" panose="020B0604020202020204" pitchFamily="34" charset="0"/>
              <a:buChar char="•"/>
            </a:pPr>
            <a:r>
              <a:rPr lang="en-US" sz="1100" spc="-5" dirty="0">
                <a:effectLst/>
                <a:latin typeface="Times New Roman" panose="02020603050405020304" pitchFamily="18" charset="0"/>
                <a:ea typeface="Times New Roman" panose="02020603050405020304" pitchFamily="18" charset="0"/>
              </a:rPr>
              <a:t>Internet Connection: Required on first run to download model weights and open scheme PDFs.</a:t>
            </a:r>
            <a:endParaRPr lang="en-US" sz="1100" dirty="0">
              <a:effectLst/>
              <a:latin typeface="Times New Roman" panose="02020603050405020304" pitchFamily="18" charset="0"/>
              <a:ea typeface="Times New Roman" panose="02020603050405020304" pitchFamily="18" charset="0"/>
            </a:endParaRPr>
          </a:p>
          <a:p>
            <a:pPr marL="171450" marR="10160" indent="-171450">
              <a:spcBef>
                <a:spcPts val="50"/>
              </a:spcBef>
              <a:buFont typeface="Arial" panose="020B0604020202020204" pitchFamily="34" charset="0"/>
              <a:buChar char="•"/>
            </a:pPr>
            <a:r>
              <a:rPr lang="en-US" sz="1100" spc="-5" dirty="0">
                <a:effectLst/>
                <a:latin typeface="Times New Roman" panose="02020603050405020304" pitchFamily="18" charset="0"/>
                <a:ea typeface="Times New Roman" panose="02020603050405020304" pitchFamily="18" charset="0"/>
              </a:rPr>
              <a:t>Processor : Intel i5 or better (NVIDIA GPU optional, speeds up LLM inference)</a:t>
            </a:r>
            <a:endParaRPr lang="en-US" sz="1100" dirty="0">
              <a:effectLst/>
              <a:latin typeface="Times New Roman" panose="02020603050405020304" pitchFamily="18" charset="0"/>
              <a:ea typeface="Times New Roman" panose="02020603050405020304" pitchFamily="18" charset="0"/>
            </a:endParaRPr>
          </a:p>
          <a:p>
            <a:pPr marR="10160">
              <a:spcBef>
                <a:spcPts val="50"/>
              </a:spcBef>
            </a:pPr>
            <a:r>
              <a:rPr lang="en-US" sz="1100" dirty="0">
                <a:effectLst/>
                <a:latin typeface="Times New Roman" panose="02020603050405020304" pitchFamily="18" charset="0"/>
                <a:ea typeface="Times New Roman" panose="02020603050405020304" pitchFamily="18" charset="0"/>
              </a:rPr>
              <a:t> </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6909923"/>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EF97B-6947-F57B-697D-4F30D7E9C44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8E0CFDF-F94F-2649-C3CC-9102CCC39C0E}"/>
              </a:ext>
            </a:extLst>
          </p:cNvPr>
          <p:cNvSpPr txBox="1">
            <a:spLocks noGrp="1"/>
          </p:cNvSpPr>
          <p:nvPr>
            <p:ph type="title"/>
          </p:nvPr>
        </p:nvSpPr>
        <p:spPr>
          <a:xfrm>
            <a:off x="95300" y="59878"/>
            <a:ext cx="3657550" cy="232756"/>
          </a:xfrm>
          <a:prstGeom prst="rect">
            <a:avLst/>
          </a:prstGeom>
        </p:spPr>
        <p:txBody>
          <a:bodyPr vert="horz" wrap="square" lIns="0" tIns="17145" rIns="0" bIns="0" rtlCol="0">
            <a:spAutoFit/>
          </a:bodyPr>
          <a:lstStyle/>
          <a:p>
            <a:pPr marL="12700">
              <a:lnSpc>
                <a:spcPct val="100000"/>
              </a:lnSpc>
              <a:spcBef>
                <a:spcPts val="135"/>
              </a:spcBef>
            </a:pPr>
            <a:r>
              <a:rPr lang="en-US" spc="-65" dirty="0">
                <a:latin typeface="Times New Roman" panose="02020603050405020304" pitchFamily="18" charset="0"/>
                <a:cs typeface="Times New Roman" panose="02020603050405020304" pitchFamily="18" charset="0"/>
              </a:rPr>
              <a:t>Result</a:t>
            </a:r>
            <a:endParaRPr spc="-25" dirty="0">
              <a:latin typeface="Times New Roman" panose="02020603050405020304" pitchFamily="18" charset="0"/>
              <a:cs typeface="Times New Roman" panose="02020603050405020304" pitchFamily="18" charset="0"/>
            </a:endParaRPr>
          </a:p>
        </p:txBody>
      </p:sp>
      <p:grpSp>
        <p:nvGrpSpPr>
          <p:cNvPr id="4" name="object 4">
            <a:extLst>
              <a:ext uri="{FF2B5EF4-FFF2-40B4-BE49-F238E27FC236}">
                <a16:creationId xmlns:a16="http://schemas.microsoft.com/office/drawing/2014/main" id="{3D897D56-B760-1CC7-AF05-F4D90F6E6B8A}"/>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3693DDAB-EA0B-C600-9A79-1C9B76EDEE9D}"/>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BEB4F805-3D46-47B4-EA37-DE565F8724CC}"/>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FC66143C-A3D9-5DE2-C166-A134B5D562ED}"/>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ADF2E77A-BC19-20B4-01E5-BCF73AAEA428}"/>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654DDF94-CDF9-4769-DE65-0C2E257C8B51}"/>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746A9F3B-07C7-025A-0FAA-A1693BA7206B}"/>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18</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33992F45-E96C-79DA-B813-D5B6AF9F0F90}"/>
              </a:ext>
            </a:extLst>
          </p:cNvPr>
          <p:cNvSpPr/>
          <p:nvPr/>
        </p:nvSpPr>
        <p:spPr>
          <a:xfrm>
            <a:off x="2838450" y="815975"/>
            <a:ext cx="685800" cy="228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1585F654-0DBA-B89C-E65C-0780BF53E7EE}"/>
              </a:ext>
            </a:extLst>
          </p:cNvPr>
          <p:cNvSpPr txBox="1"/>
          <p:nvPr/>
        </p:nvSpPr>
        <p:spPr>
          <a:xfrm>
            <a:off x="17328" y="375702"/>
            <a:ext cx="4528107" cy="1954381"/>
          </a:xfrm>
          <a:prstGeom prst="rect">
            <a:avLst/>
          </a:prstGeom>
          <a:noFill/>
        </p:spPr>
        <p:txBody>
          <a:bodyPr wrap="square">
            <a:spAutoFit/>
          </a:bodyPr>
          <a:lstStyle/>
          <a:p>
            <a:pPr>
              <a:buFont typeface="+mj-lt"/>
              <a:buAutoNum type="arabicPeriod"/>
            </a:pPr>
            <a:r>
              <a:rPr lang="en-US" sz="1100" b="1" dirty="0">
                <a:latin typeface="Times New Roman" panose="02020603050405020304" pitchFamily="18" charset="0"/>
                <a:cs typeface="Times New Roman" panose="02020603050405020304" pitchFamily="18" charset="0"/>
              </a:rPr>
              <a:t>Evaluation Metrics</a:t>
            </a:r>
          </a:p>
          <a:p>
            <a:r>
              <a:rPr lang="en-US" sz="1100" dirty="0">
                <a:latin typeface="Times New Roman" panose="02020603050405020304" pitchFamily="18" charset="0"/>
                <a:cs typeface="Times New Roman" panose="02020603050405020304" pitchFamily="18" charset="0"/>
              </a:rPr>
              <a:t>Score every pipeline output against human-verified YojanaBench ground truth.</a:t>
            </a:r>
          </a:p>
          <a:p>
            <a:r>
              <a:rPr lang="en-US" sz="1100" b="1" dirty="0">
                <a:latin typeface="Times New Roman" panose="02020603050405020304" pitchFamily="18" charset="0"/>
                <a:cs typeface="Times New Roman" panose="02020603050405020304" pitchFamily="18" charset="0"/>
              </a:rPr>
              <a:t>Metrics: Exact Match, token-level F1, verdict accuracy, entitlement error, document F1 and confidence calibration.</a:t>
            </a:r>
          </a:p>
          <a:p>
            <a:endParaRPr lang="en-US" sz="1100" dirty="0">
              <a:latin typeface="Times New Roman" panose="02020603050405020304" pitchFamily="18" charset="0"/>
              <a:cs typeface="Times New Roman" panose="02020603050405020304" pitchFamily="18" charset="0"/>
            </a:endParaRPr>
          </a:p>
          <a:p>
            <a:r>
              <a:rPr lang="en-US" sz="1100" b="1" dirty="0">
                <a:latin typeface="Times New Roman" panose="02020603050405020304" pitchFamily="18" charset="0"/>
                <a:cs typeface="Times New Roman" panose="02020603050405020304" pitchFamily="18" charset="0"/>
              </a:rPr>
              <a:t>2. Baseline Comparison</a:t>
            </a:r>
          </a:p>
          <a:p>
            <a:r>
              <a:rPr lang="en-US" sz="1100" dirty="0">
                <a:latin typeface="Times New Roman" panose="02020603050405020304" pitchFamily="18" charset="0"/>
                <a:cs typeface="Times New Roman" panose="02020603050405020304" pitchFamily="18" charset="0"/>
              </a:rPr>
              <a:t>Compare a single-LLM prompt and naive fixed-chunk RAG with the full multi-agent pipeline.</a:t>
            </a:r>
          </a:p>
          <a:p>
            <a:r>
              <a:rPr lang="en-US" sz="1100" b="1" dirty="0">
                <a:latin typeface="Times New Roman" panose="02020603050405020304" pitchFamily="18" charset="0"/>
                <a:cs typeface="Times New Roman" panose="02020603050405020304" pitchFamily="18" charset="0"/>
              </a:rPr>
              <a:t>Visual: Bar charts of EM, F1 and verdict accuracy for every system.</a:t>
            </a:r>
          </a:p>
          <a:p>
            <a:r>
              <a:rPr lang="en-US" sz="1100" b="1" dirty="0">
                <a:latin typeface="Times New Roman" panose="02020603050405020304" pitchFamily="18" charset="0"/>
                <a:cs typeface="Times New Roman" panose="02020603050405020304" pitchFamily="18" charset="0"/>
              </a:rPr>
              <a:t>Result: Expected gains from clause-grounded retrieval, deterministic entitlement computation and cross-agent verification.</a:t>
            </a:r>
          </a:p>
        </p:txBody>
      </p:sp>
    </p:spTree>
    <p:extLst>
      <p:ext uri="{BB962C8B-B14F-4D97-AF65-F5344CB8AC3E}">
        <p14:creationId xmlns:p14="http://schemas.microsoft.com/office/powerpoint/2010/main" val="4229387064"/>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18F27-8D11-C86E-4D1B-A35F97D3054A}"/>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AEF42516-9D42-0B9E-2FDE-72321751F4CF}"/>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A734103F-0000-5A75-50A0-B29F2F7F2028}"/>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B57CABAC-AA31-BD41-9058-E6942B269E12}"/>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62ACE1C6-6EE0-7E07-9906-12AF7E800FF6}"/>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BFFA7288-A09B-B37A-F7CE-7B684BA57993}"/>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2AFF3C51-AE31-540B-4636-B30B4DCA8D8D}"/>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8DB6136A-E8D4-9303-ED1A-BC44540B8FBE}"/>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19</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3F602046-4035-94FD-941D-FA261D977770}"/>
              </a:ext>
            </a:extLst>
          </p:cNvPr>
          <p:cNvSpPr/>
          <p:nvPr/>
        </p:nvSpPr>
        <p:spPr>
          <a:xfrm>
            <a:off x="2838450" y="815975"/>
            <a:ext cx="685800" cy="228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ECAE5344-7C6F-FD9E-3051-A1E6E9EBE7A3}"/>
              </a:ext>
            </a:extLst>
          </p:cNvPr>
          <p:cNvSpPr txBox="1"/>
          <p:nvPr/>
        </p:nvSpPr>
        <p:spPr>
          <a:xfrm>
            <a:off x="39953" y="358775"/>
            <a:ext cx="4528107" cy="2492990"/>
          </a:xfrm>
          <a:prstGeom prst="rect">
            <a:avLst/>
          </a:prstGeom>
          <a:noFill/>
        </p:spPr>
        <p:txBody>
          <a:bodyPr wrap="square">
            <a:spAutoFit/>
          </a:bodyPr>
          <a:lstStyle/>
          <a:p>
            <a:r>
              <a:rPr lang="en-US" sz="1200" b="1" dirty="0">
                <a:latin typeface="Times New Roman" panose="02020603050405020304" pitchFamily="18" charset="0"/>
                <a:cs typeface="Times New Roman" panose="02020603050405020304" pitchFamily="18" charset="0"/>
              </a:rPr>
              <a:t>3. Ablation Studies</a:t>
            </a:r>
          </a:p>
          <a:p>
            <a:r>
              <a:rPr lang="en-US" sz="1100" dirty="0">
                <a:latin typeface="Times New Roman" panose="02020603050405020304" pitchFamily="18" charset="0"/>
                <a:cs typeface="Times New Roman" panose="02020603050405020304" pitchFamily="18" charset="0"/>
              </a:rPr>
              <a:t>Remove one agent at a time (no Verification, no RAG, no deterministic Entitlement) and re-score the benchmark.</a:t>
            </a:r>
          </a:p>
          <a:p>
            <a:r>
              <a:rPr lang="en-US" sz="1100" b="1" dirty="0">
                <a:latin typeface="Times New Roman" panose="02020603050405020304" pitchFamily="18" charset="0"/>
                <a:cs typeface="Times New Roman" panose="02020603050405020304" pitchFamily="18" charset="0"/>
              </a:rPr>
              <a:t>Visual: Grouped bars showing the score drop caused by removing each agent.</a:t>
            </a:r>
          </a:p>
          <a:p>
            <a:r>
              <a:rPr lang="en-US" sz="1100" b="1" dirty="0">
                <a:latin typeface="Times New Roman" panose="02020603050405020304" pitchFamily="18" charset="0"/>
                <a:cs typeface="Times New Roman" panose="02020603050405020304" pitchFamily="18" charset="0"/>
              </a:rPr>
              <a:t>Result: Quantified contribution of every component of the multi-agent design.</a:t>
            </a:r>
          </a:p>
          <a:p>
            <a:r>
              <a:rPr lang="en-US" sz="1100" b="1" dirty="0">
                <a:latin typeface="Times New Roman" panose="02020603050405020304" pitchFamily="18" charset="0"/>
                <a:cs typeface="Times New Roman" panose="02020603050405020304" pitchFamily="18" charset="0"/>
              </a:rPr>
              <a:t>4. Per-Category Breakdown</a:t>
            </a:r>
          </a:p>
          <a:p>
            <a:r>
              <a:rPr lang="en-US" sz="1100" dirty="0">
                <a:latin typeface="Times New Roman" panose="02020603050405020304" pitchFamily="18" charset="0"/>
                <a:cs typeface="Times New Roman" panose="02020603050405020304" pitchFamily="18" charset="0"/>
              </a:rPr>
              <a:t>Report EM and verdict accuracy separately for eligibility, entitlement, documents and appeal questions.</a:t>
            </a:r>
          </a:p>
          <a:p>
            <a:r>
              <a:rPr lang="en-US" sz="1100" b="1" dirty="0">
                <a:latin typeface="Times New Roman" panose="02020603050405020304" pitchFamily="18" charset="0"/>
                <a:cs typeface="Times New Roman" panose="02020603050405020304" pitchFamily="18" charset="0"/>
              </a:rPr>
              <a:t>Visual: Heat map of scores per category and per scheme.</a:t>
            </a:r>
          </a:p>
          <a:p>
            <a:r>
              <a:rPr lang="en-US" sz="1100" b="1" dirty="0">
                <a:latin typeface="Times New Roman" panose="02020603050405020304" pitchFamily="18" charset="0"/>
                <a:cs typeface="Times New Roman" panose="02020603050405020304" pitchFamily="18" charset="0"/>
              </a:rPr>
              <a:t>Result: Reveals the weakest reasoning type, such as numerical entitlement or counterfactual edge cases.</a:t>
            </a:r>
          </a:p>
          <a:p>
            <a:pPr>
              <a:buFont typeface="+mj-lt"/>
              <a:buAutoNum type="arabicPeriod"/>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805769"/>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61311-AEEC-282F-3FA7-070F111994B9}"/>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B6ED4CFF-4630-B77D-3426-E037E3266D4D}"/>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A5749C7E-2E3F-B9DD-1211-09521FF56A53}"/>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68FB6981-A74F-FC18-CDC2-B23068B11379}"/>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EE851C66-12A5-5502-ACBE-9D06EEA4D159}"/>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571A0393-856B-0EEF-FB4C-28C23DD88B7B}"/>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58AD3DCF-4BB2-1670-C382-91A159DFB288}"/>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C5827344-5425-BFF8-3654-8F6D8D2B2E7A}"/>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20</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1449A7BC-B6C0-B454-EDDF-79671557E4D3}"/>
              </a:ext>
            </a:extLst>
          </p:cNvPr>
          <p:cNvSpPr/>
          <p:nvPr/>
        </p:nvSpPr>
        <p:spPr>
          <a:xfrm>
            <a:off x="2838450" y="815975"/>
            <a:ext cx="685800" cy="228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ED13E28A-73CE-059F-C37A-AAD94B41163B}"/>
              </a:ext>
            </a:extLst>
          </p:cNvPr>
          <p:cNvSpPr txBox="1"/>
          <p:nvPr/>
        </p:nvSpPr>
        <p:spPr>
          <a:xfrm>
            <a:off x="95250" y="377646"/>
            <a:ext cx="4438650" cy="2631490"/>
          </a:xfrm>
          <a:prstGeom prst="rect">
            <a:avLst/>
          </a:prstGeom>
          <a:noFill/>
        </p:spPr>
        <p:txBody>
          <a:bodyPr wrap="square">
            <a:spAutoFit/>
          </a:bodyPr>
          <a:lstStyle/>
          <a:p>
            <a:r>
              <a:rPr lang="en-US" sz="1100" b="1" dirty="0">
                <a:latin typeface="Times New Roman" panose="02020603050405020304" pitchFamily="18" charset="0"/>
                <a:cs typeface="Times New Roman" panose="02020603050405020304" pitchFamily="18" charset="0"/>
              </a:rPr>
              <a:t>5. Counterfactual Stress Test</a:t>
            </a:r>
          </a:p>
          <a:p>
            <a:r>
              <a:rPr lang="en-US" sz="1100" dirty="0">
                <a:latin typeface="Times New Roman" panose="02020603050405020304" pitchFamily="18" charset="0"/>
                <a:cs typeface="Times New Roman" panose="02020603050405020304" pitchFamily="18" charset="0"/>
              </a:rPr>
              <a:t>Evaluate base questions together with perturbed variants: boundary incomes, missing documents, category swaps and distractor schemes.</a:t>
            </a:r>
          </a:p>
          <a:p>
            <a:r>
              <a:rPr lang="en-US" sz="1100" b="1" dirty="0">
                <a:latin typeface="Times New Roman" panose="02020603050405020304" pitchFamily="18" charset="0"/>
                <a:cs typeface="Times New Roman" panose="02020603050405020304" pitchFamily="18" charset="0"/>
              </a:rPr>
              <a:t>Visual: Accuracy gap between base items and counterfactual items.</a:t>
            </a:r>
          </a:p>
          <a:p>
            <a:r>
              <a:rPr lang="en-US" sz="1100" b="1" dirty="0">
                <a:latin typeface="Times New Roman" panose="02020603050405020304" pitchFamily="18" charset="0"/>
                <a:cs typeface="Times New Roman" panose="02020603050405020304" pitchFamily="18" charset="0"/>
              </a:rPr>
              <a:t>Result: Exposes failures that average scores would otherwise hide.</a:t>
            </a:r>
          </a:p>
          <a:p>
            <a:r>
              <a:rPr lang="en-US" sz="1100" b="1" dirty="0">
                <a:latin typeface="Times New Roman" panose="02020603050405020304" pitchFamily="18" charset="0"/>
                <a:cs typeface="Times New Roman" panose="02020603050405020304" pitchFamily="18" charset="0"/>
              </a:rPr>
              <a:t>6. Confidence Calibration</a:t>
            </a:r>
          </a:p>
          <a:p>
            <a:r>
              <a:rPr lang="en-US" sz="1100" dirty="0">
                <a:latin typeface="Times New Roman" panose="02020603050405020304" pitchFamily="18" charset="0"/>
                <a:cs typeface="Times New Roman" panose="02020603050405020304" pitchFamily="18" charset="0"/>
              </a:rPr>
              <a:t>Compare the confidence stated with each verdict against observed accuracy.</a:t>
            </a:r>
          </a:p>
          <a:p>
            <a:r>
              <a:rPr lang="en-US" sz="1100" b="1" dirty="0">
                <a:latin typeface="Times New Roman" panose="02020603050405020304" pitchFamily="18" charset="0"/>
                <a:cs typeface="Times New Roman" panose="02020603050405020304" pitchFamily="18" charset="0"/>
              </a:rPr>
              <a:t>Visual: Calibration curve; low-confidence cases are held for the human-approval gate.</a:t>
            </a:r>
          </a:p>
          <a:p>
            <a:r>
              <a:rPr lang="en-US" sz="1100" b="1" dirty="0">
                <a:latin typeface="Times New Roman" panose="02020603050405020304" pitchFamily="18" charset="0"/>
                <a:cs typeface="Times New Roman" panose="02020603050405020304" pitchFamily="18" charset="0"/>
              </a:rPr>
              <a:t>Result: The pipeline knows when it is unsure instead of silently guessing.</a:t>
            </a:r>
          </a:p>
          <a:p>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6534922"/>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39BF9-318D-3C6F-45C5-FD5C5A027206}"/>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2DEA51DF-1AED-355C-68ED-BE692B585FF5}"/>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E526E012-F729-5E0E-EEAB-BFF07CA345B1}"/>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7C07F81B-9700-36E6-B405-5136FE11DDBA}"/>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EFBD2A11-DF6A-FE65-164E-F9A85C8DDF45}"/>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3D055057-04DF-E304-6473-60DDEF7C34EF}"/>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B24BF0BD-64E2-F6C0-AD0F-8CAAF721803F}"/>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F90A0ABA-D40F-C2C5-1862-69172AE37C93}"/>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21</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983986CB-37C3-8404-6389-F79190182DBD}"/>
              </a:ext>
            </a:extLst>
          </p:cNvPr>
          <p:cNvSpPr/>
          <p:nvPr/>
        </p:nvSpPr>
        <p:spPr>
          <a:xfrm>
            <a:off x="2838450" y="815975"/>
            <a:ext cx="685800" cy="228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BE483FEB-9148-1891-2B87-452849713029}"/>
              </a:ext>
            </a:extLst>
          </p:cNvPr>
          <p:cNvSpPr txBox="1"/>
          <p:nvPr/>
        </p:nvSpPr>
        <p:spPr>
          <a:xfrm>
            <a:off x="95250" y="377646"/>
            <a:ext cx="4438650" cy="1107996"/>
          </a:xfrm>
          <a:prstGeom prst="rect">
            <a:avLst/>
          </a:prstGeom>
          <a:noFill/>
        </p:spPr>
        <p:txBody>
          <a:bodyPr wrap="square">
            <a:spAutoFit/>
          </a:bodyPr>
          <a:lstStyle/>
          <a:p>
            <a:r>
              <a:rPr lang="en-US" sz="1100" b="1" dirty="0">
                <a:latin typeface="Times New Roman" panose="02020603050405020304" pitchFamily="18" charset="0"/>
                <a:cs typeface="Times New Roman" panose="02020603050405020304" pitchFamily="18" charset="0"/>
              </a:rPr>
              <a:t>7. End-to-End Demo Scenarios</a:t>
            </a:r>
          </a:p>
          <a:p>
            <a:r>
              <a:rPr lang="en-US" sz="1100" dirty="0">
                <a:latin typeface="Times New Roman" panose="02020603050405020304" pitchFamily="18" charset="0"/>
                <a:cs typeface="Times New Roman" panose="02020603050405020304" pitchFamily="18" charset="0"/>
              </a:rPr>
              <a:t>Run showcase cases through the dashboard: an eligible applicant, a rejected application and a boundary case.</a:t>
            </a:r>
          </a:p>
          <a:p>
            <a:r>
              <a:rPr lang="en-US" sz="1100" b="1" dirty="0">
                <a:latin typeface="Times New Roman" panose="02020603050405020304" pitchFamily="18" charset="0"/>
                <a:cs typeface="Times New Roman" panose="02020603050405020304" pitchFamily="18" charset="0"/>
              </a:rPr>
              <a:t>Visual: Step-by-step agent trace with retrieved clauses, computed benefit and final verdict.</a:t>
            </a:r>
          </a:p>
          <a:p>
            <a:r>
              <a:rPr lang="en-US" sz="1100" b="1" dirty="0">
                <a:latin typeface="Times New Roman" panose="02020603050405020304" pitchFamily="18" charset="0"/>
                <a:cs typeface="Times New Roman" panose="02020603050405020304" pitchFamily="18" charset="0"/>
              </a:rPr>
              <a:t>Result: Verdict with explanation, confidence score and a routed appeal letter for rejections.</a:t>
            </a:r>
          </a:p>
        </p:txBody>
      </p:sp>
    </p:spTree>
    <p:extLst>
      <p:ext uri="{BB962C8B-B14F-4D97-AF65-F5344CB8AC3E}">
        <p14:creationId xmlns:p14="http://schemas.microsoft.com/office/powerpoint/2010/main" val="2021976773"/>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686AD-395C-2FFC-4F02-34E0439ACC8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8AB7AFA-047B-7A22-E33F-23EE9937D5E1}"/>
              </a:ext>
            </a:extLst>
          </p:cNvPr>
          <p:cNvSpPr txBox="1">
            <a:spLocks noGrp="1"/>
          </p:cNvSpPr>
          <p:nvPr>
            <p:ph type="title"/>
          </p:nvPr>
        </p:nvSpPr>
        <p:spPr>
          <a:xfrm>
            <a:off x="95300" y="59878"/>
            <a:ext cx="3657550" cy="232756"/>
          </a:xfrm>
          <a:prstGeom prst="rect">
            <a:avLst/>
          </a:prstGeom>
        </p:spPr>
        <p:txBody>
          <a:bodyPr vert="horz" wrap="square" lIns="0" tIns="17145" rIns="0" bIns="0" rtlCol="0">
            <a:spAutoFit/>
          </a:bodyPr>
          <a:lstStyle/>
          <a:p>
            <a:pPr marL="12700">
              <a:lnSpc>
                <a:spcPct val="100000"/>
              </a:lnSpc>
              <a:spcBef>
                <a:spcPts val="135"/>
              </a:spcBef>
            </a:pPr>
            <a:r>
              <a:rPr lang="en-US" spc="-65" dirty="0">
                <a:latin typeface="Times New Roman" panose="02020603050405020304" pitchFamily="18" charset="0"/>
                <a:cs typeface="Times New Roman" panose="02020603050405020304" pitchFamily="18" charset="0"/>
              </a:rPr>
              <a:t> Result Test cases  </a:t>
            </a:r>
            <a:endParaRPr spc="-25" dirty="0">
              <a:latin typeface="Times New Roman" panose="02020603050405020304" pitchFamily="18" charset="0"/>
              <a:cs typeface="Times New Roman" panose="02020603050405020304" pitchFamily="18" charset="0"/>
            </a:endParaRPr>
          </a:p>
        </p:txBody>
      </p:sp>
      <p:grpSp>
        <p:nvGrpSpPr>
          <p:cNvPr id="4" name="object 4">
            <a:extLst>
              <a:ext uri="{FF2B5EF4-FFF2-40B4-BE49-F238E27FC236}">
                <a16:creationId xmlns:a16="http://schemas.microsoft.com/office/drawing/2014/main" id="{65569C5D-B27A-8150-78E2-4E373CBA9CB6}"/>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F17B1042-9CCF-AE3E-A1AC-6B2E64E4B130}"/>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F9B9EEAC-2687-B250-E3B7-28A3FCA9887D}"/>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F484CFCB-88E8-B2B4-AACF-E6713E384DE2}"/>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50B7D562-837F-93F6-AACD-080C56641E8C}"/>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0638C6BB-AFA8-35E3-A9F9-45EB767BAF97}"/>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739C6C5F-B0FE-8FC0-02F6-2CBB0371A201}"/>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22</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3DE124F-155B-7AA9-2F46-5F46EA9F626D}"/>
              </a:ext>
            </a:extLst>
          </p:cNvPr>
          <p:cNvSpPr txBox="1"/>
          <p:nvPr/>
        </p:nvSpPr>
        <p:spPr>
          <a:xfrm>
            <a:off x="1619250" y="2990872"/>
            <a:ext cx="2438400" cy="261610"/>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Fig 9. Demo Test Cases  </a:t>
            </a:r>
          </a:p>
        </p:txBody>
      </p:sp>
      <p:sp>
        <p:nvSpPr>
          <p:cNvPr id="8" name="Rectangle 7">
            <a:extLst>
              <a:ext uri="{FF2B5EF4-FFF2-40B4-BE49-F238E27FC236}">
                <a16:creationId xmlns:a16="http://schemas.microsoft.com/office/drawing/2014/main" id="{CFC44894-B952-27DD-DD21-81E9A5832AD8}"/>
              </a:ext>
            </a:extLst>
          </p:cNvPr>
          <p:cNvSpPr/>
          <p:nvPr/>
        </p:nvSpPr>
        <p:spPr>
          <a:xfrm>
            <a:off x="2838450" y="815975"/>
            <a:ext cx="685800" cy="228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F4BD2931-1E8C-DD85-7C99-33E5AA1BD4EE}"/>
              </a:ext>
            </a:extLst>
          </p:cNvPr>
          <p:cNvSpPr/>
          <p:nvPr/>
        </p:nvSpPr>
        <p:spPr>
          <a:xfrm>
            <a:off x="1157113" y="558780"/>
            <a:ext cx="685800" cy="25719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545E7919-97FE-41BA-4CA7-E435ACF30930}"/>
              </a:ext>
            </a:extLst>
          </p:cNvPr>
          <p:cNvSpPr/>
          <p:nvPr/>
        </p:nvSpPr>
        <p:spPr>
          <a:xfrm>
            <a:off x="1952275" y="551591"/>
            <a:ext cx="762002" cy="47948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75C87001-E1A6-CE0D-7292-0335249AB571}"/>
              </a:ext>
            </a:extLst>
          </p:cNvPr>
          <p:cNvSpPr/>
          <p:nvPr/>
        </p:nvSpPr>
        <p:spPr>
          <a:xfrm>
            <a:off x="2838450" y="546957"/>
            <a:ext cx="670948" cy="34521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6C271973-32E2-7C9D-29F0-70DB99DB26AA}"/>
              </a:ext>
            </a:extLst>
          </p:cNvPr>
          <p:cNvSpPr/>
          <p:nvPr/>
        </p:nvSpPr>
        <p:spPr>
          <a:xfrm>
            <a:off x="3752850" y="546957"/>
            <a:ext cx="534140" cy="26161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6" name="Picture 15">
            <a:extLst>
              <a:ext uri="{FF2B5EF4-FFF2-40B4-BE49-F238E27FC236}">
                <a16:creationId xmlns:a16="http://schemas.microsoft.com/office/drawing/2014/main" id="{DF197CEC-26E2-C4F8-C828-C581F250C2DA}"/>
              </a:ext>
            </a:extLst>
          </p:cNvPr>
          <p:cNvPicPr>
            <a:picLocks noChangeAspect="1"/>
          </p:cNvPicPr>
          <p:nvPr/>
        </p:nvPicPr>
        <p:blipFill>
          <a:blip r:embed="rId2"/>
          <a:srcRect t="14996"/>
          <a:stretch/>
        </p:blipFill>
        <p:spPr>
          <a:xfrm>
            <a:off x="91731" y="587375"/>
            <a:ext cx="1771650" cy="1182933"/>
          </a:xfrm>
          <a:prstGeom prst="rect">
            <a:avLst/>
          </a:prstGeom>
        </p:spPr>
      </p:pic>
      <p:pic>
        <p:nvPicPr>
          <p:cNvPr id="26" name="Picture 25">
            <a:extLst>
              <a:ext uri="{FF2B5EF4-FFF2-40B4-BE49-F238E27FC236}">
                <a16:creationId xmlns:a16="http://schemas.microsoft.com/office/drawing/2014/main" id="{83452F81-F84A-6015-0580-661A31B3CEB2}"/>
              </a:ext>
            </a:extLst>
          </p:cNvPr>
          <p:cNvPicPr>
            <a:picLocks noChangeAspect="1"/>
          </p:cNvPicPr>
          <p:nvPr/>
        </p:nvPicPr>
        <p:blipFill>
          <a:blip r:embed="rId3"/>
          <a:stretch>
            <a:fillRect/>
          </a:stretch>
        </p:blipFill>
        <p:spPr>
          <a:xfrm>
            <a:off x="2087783" y="604537"/>
            <a:ext cx="1708823" cy="962266"/>
          </a:xfrm>
          <a:prstGeom prst="rect">
            <a:avLst/>
          </a:prstGeom>
        </p:spPr>
      </p:pic>
      <p:pic>
        <p:nvPicPr>
          <p:cNvPr id="28" name="Picture 27">
            <a:extLst>
              <a:ext uri="{FF2B5EF4-FFF2-40B4-BE49-F238E27FC236}">
                <a16:creationId xmlns:a16="http://schemas.microsoft.com/office/drawing/2014/main" id="{9AE81890-8440-AEDD-5455-74107B74001A}"/>
              </a:ext>
            </a:extLst>
          </p:cNvPr>
          <p:cNvPicPr>
            <a:picLocks noChangeAspect="1"/>
          </p:cNvPicPr>
          <p:nvPr/>
        </p:nvPicPr>
        <p:blipFill>
          <a:blip r:embed="rId4"/>
          <a:stretch>
            <a:fillRect/>
          </a:stretch>
        </p:blipFill>
        <p:spPr>
          <a:xfrm>
            <a:off x="148970" y="1767133"/>
            <a:ext cx="1290708" cy="1268718"/>
          </a:xfrm>
          <a:prstGeom prst="rect">
            <a:avLst/>
          </a:prstGeom>
        </p:spPr>
      </p:pic>
      <p:pic>
        <p:nvPicPr>
          <p:cNvPr id="30" name="Picture 29">
            <a:extLst>
              <a:ext uri="{FF2B5EF4-FFF2-40B4-BE49-F238E27FC236}">
                <a16:creationId xmlns:a16="http://schemas.microsoft.com/office/drawing/2014/main" id="{E061E73F-8934-4572-9D19-E79DCD7B4ACC}"/>
              </a:ext>
            </a:extLst>
          </p:cNvPr>
          <p:cNvPicPr>
            <a:picLocks noChangeAspect="1"/>
          </p:cNvPicPr>
          <p:nvPr/>
        </p:nvPicPr>
        <p:blipFill>
          <a:blip r:embed="rId5"/>
          <a:stretch>
            <a:fillRect/>
          </a:stretch>
        </p:blipFill>
        <p:spPr>
          <a:xfrm>
            <a:off x="2110790" y="1662317"/>
            <a:ext cx="1271861" cy="1254059"/>
          </a:xfrm>
          <a:prstGeom prst="rect">
            <a:avLst/>
          </a:prstGeom>
        </p:spPr>
      </p:pic>
    </p:spTree>
    <p:extLst>
      <p:ext uri="{BB962C8B-B14F-4D97-AF65-F5344CB8AC3E}">
        <p14:creationId xmlns:p14="http://schemas.microsoft.com/office/powerpoint/2010/main" val="4165205021"/>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4DEB1-42BD-C171-35D0-C2F5E2CA3F20}"/>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F0C751E6-37FC-FED1-E4D3-0EC848ABA8DE}"/>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813F69E4-006C-6D3E-491D-5B1586F3191F}"/>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EA5FD8AE-4087-DFB3-235B-E534E1FF7A99}"/>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F5605B75-9B41-83C8-29E6-6DB17BF1134B}"/>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B135C181-2510-E456-234D-2E696063E8B3}"/>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EFD5F4B6-3AF0-A699-5E1E-CFB5874D651A}"/>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F6E9CCD8-2C08-97AA-9842-F78802298132}"/>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23</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58E2C2F-C060-6C2B-4A5A-DA57AB70D8C7}"/>
              </a:ext>
            </a:extLst>
          </p:cNvPr>
          <p:cNvSpPr txBox="1"/>
          <p:nvPr/>
        </p:nvSpPr>
        <p:spPr>
          <a:xfrm>
            <a:off x="1619250" y="2907717"/>
            <a:ext cx="2438400" cy="261610"/>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Fig 10. Counterfactual Edge Cases </a:t>
            </a:r>
          </a:p>
        </p:txBody>
      </p:sp>
      <p:sp>
        <p:nvSpPr>
          <p:cNvPr id="8" name="Rectangle 7">
            <a:extLst>
              <a:ext uri="{FF2B5EF4-FFF2-40B4-BE49-F238E27FC236}">
                <a16:creationId xmlns:a16="http://schemas.microsoft.com/office/drawing/2014/main" id="{7EFF79D9-9FEF-501E-F3C6-28F4B33D2103}"/>
              </a:ext>
            </a:extLst>
          </p:cNvPr>
          <p:cNvSpPr/>
          <p:nvPr/>
        </p:nvSpPr>
        <p:spPr>
          <a:xfrm>
            <a:off x="2838450" y="815975"/>
            <a:ext cx="685800" cy="228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 name="Picture 2">
            <a:extLst>
              <a:ext uri="{FF2B5EF4-FFF2-40B4-BE49-F238E27FC236}">
                <a16:creationId xmlns:a16="http://schemas.microsoft.com/office/drawing/2014/main" id="{FAEC5180-276A-7791-DB14-F68C0BDA8F7C}"/>
              </a:ext>
            </a:extLst>
          </p:cNvPr>
          <p:cNvPicPr>
            <a:picLocks noChangeAspect="1"/>
          </p:cNvPicPr>
          <p:nvPr/>
        </p:nvPicPr>
        <p:blipFill>
          <a:blip r:embed="rId2"/>
          <a:stretch>
            <a:fillRect/>
          </a:stretch>
        </p:blipFill>
        <p:spPr>
          <a:xfrm>
            <a:off x="51435" y="503960"/>
            <a:ext cx="1536065" cy="1378814"/>
          </a:xfrm>
          <a:prstGeom prst="rect">
            <a:avLst/>
          </a:prstGeom>
        </p:spPr>
      </p:pic>
      <p:pic>
        <p:nvPicPr>
          <p:cNvPr id="15" name="Picture 14">
            <a:extLst>
              <a:ext uri="{FF2B5EF4-FFF2-40B4-BE49-F238E27FC236}">
                <a16:creationId xmlns:a16="http://schemas.microsoft.com/office/drawing/2014/main" id="{85A09BCA-4AAE-3D6A-5CDC-2B900EC1D196}"/>
              </a:ext>
            </a:extLst>
          </p:cNvPr>
          <p:cNvPicPr>
            <a:picLocks noChangeAspect="1"/>
          </p:cNvPicPr>
          <p:nvPr/>
        </p:nvPicPr>
        <p:blipFill>
          <a:blip r:embed="rId3"/>
          <a:stretch>
            <a:fillRect/>
          </a:stretch>
        </p:blipFill>
        <p:spPr>
          <a:xfrm>
            <a:off x="2457450" y="503960"/>
            <a:ext cx="2070099" cy="1378815"/>
          </a:xfrm>
          <a:prstGeom prst="rect">
            <a:avLst/>
          </a:prstGeom>
        </p:spPr>
      </p:pic>
      <p:pic>
        <p:nvPicPr>
          <p:cNvPr id="17" name="Picture 16">
            <a:extLst>
              <a:ext uri="{FF2B5EF4-FFF2-40B4-BE49-F238E27FC236}">
                <a16:creationId xmlns:a16="http://schemas.microsoft.com/office/drawing/2014/main" id="{F9520855-A4BE-D6B9-B002-1A2108F1C05D}"/>
              </a:ext>
            </a:extLst>
          </p:cNvPr>
          <p:cNvPicPr>
            <a:picLocks noChangeAspect="1"/>
          </p:cNvPicPr>
          <p:nvPr/>
        </p:nvPicPr>
        <p:blipFill>
          <a:blip r:embed="rId4"/>
          <a:stretch>
            <a:fillRect/>
          </a:stretch>
        </p:blipFill>
        <p:spPr>
          <a:xfrm>
            <a:off x="95250" y="1983802"/>
            <a:ext cx="1440726" cy="847510"/>
          </a:xfrm>
          <a:prstGeom prst="rect">
            <a:avLst/>
          </a:prstGeom>
        </p:spPr>
      </p:pic>
      <p:pic>
        <p:nvPicPr>
          <p:cNvPr id="12" name="Picture 11">
            <a:extLst>
              <a:ext uri="{FF2B5EF4-FFF2-40B4-BE49-F238E27FC236}">
                <a16:creationId xmlns:a16="http://schemas.microsoft.com/office/drawing/2014/main" id="{5D3AA5AB-450D-2D6D-65BB-7085CD5C8193}"/>
              </a:ext>
            </a:extLst>
          </p:cNvPr>
          <p:cNvPicPr>
            <a:picLocks noChangeAspect="1"/>
          </p:cNvPicPr>
          <p:nvPr/>
        </p:nvPicPr>
        <p:blipFill>
          <a:blip r:embed="rId5"/>
          <a:stretch>
            <a:fillRect/>
          </a:stretch>
        </p:blipFill>
        <p:spPr>
          <a:xfrm>
            <a:off x="2333943" y="1878120"/>
            <a:ext cx="1593594" cy="847510"/>
          </a:xfrm>
          <a:prstGeom prst="rect">
            <a:avLst/>
          </a:prstGeom>
        </p:spPr>
      </p:pic>
    </p:spTree>
    <p:extLst>
      <p:ext uri="{BB962C8B-B14F-4D97-AF65-F5344CB8AC3E}">
        <p14:creationId xmlns:p14="http://schemas.microsoft.com/office/powerpoint/2010/main" val="4000498919"/>
      </p:ext>
    </p:extLst>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720A2-0412-C53B-BB72-5B2884CD1965}"/>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7CABF5E9-F567-5008-0B0A-31AC78001A34}"/>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D0EE6A0E-99B0-E2AB-7757-99AD33D4AFAB}"/>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CA2245FC-0833-3D82-5CE0-B178810714B7}"/>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B04F800B-0699-C25F-722D-1EF964AFEA67}"/>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1EA96FC2-09E7-4175-60D4-0814549340FB}"/>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460F8A17-B5C1-5C1F-2FC7-DA66C86738B2}"/>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8F107438-2F49-BF9D-B480-966F7ED07150}"/>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24</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16236E9-F019-2F27-348D-FD7F08C2252F}"/>
              </a:ext>
            </a:extLst>
          </p:cNvPr>
          <p:cNvSpPr txBox="1"/>
          <p:nvPr/>
        </p:nvSpPr>
        <p:spPr>
          <a:xfrm>
            <a:off x="1619250" y="2907717"/>
            <a:ext cx="2438400" cy="261610"/>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Fig 11. Audit Dashboard</a:t>
            </a:r>
          </a:p>
        </p:txBody>
      </p:sp>
      <p:sp>
        <p:nvSpPr>
          <p:cNvPr id="8" name="Rectangle 7">
            <a:extLst>
              <a:ext uri="{FF2B5EF4-FFF2-40B4-BE49-F238E27FC236}">
                <a16:creationId xmlns:a16="http://schemas.microsoft.com/office/drawing/2014/main" id="{01EE1E5A-22D5-C5C8-AD7B-B80CD7EDCD06}"/>
              </a:ext>
            </a:extLst>
          </p:cNvPr>
          <p:cNvSpPr/>
          <p:nvPr/>
        </p:nvSpPr>
        <p:spPr>
          <a:xfrm>
            <a:off x="2838450" y="815975"/>
            <a:ext cx="685800" cy="228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3" name="Picture 2">
            <a:extLst>
              <a:ext uri="{FF2B5EF4-FFF2-40B4-BE49-F238E27FC236}">
                <a16:creationId xmlns:a16="http://schemas.microsoft.com/office/drawing/2014/main" id="{24E226D9-525C-FC75-45D6-E78429188832}"/>
              </a:ext>
            </a:extLst>
          </p:cNvPr>
          <p:cNvPicPr>
            <a:picLocks noChangeAspect="1"/>
          </p:cNvPicPr>
          <p:nvPr/>
        </p:nvPicPr>
        <p:blipFill>
          <a:blip r:embed="rId2"/>
          <a:stretch>
            <a:fillRect/>
          </a:stretch>
        </p:blipFill>
        <p:spPr>
          <a:xfrm>
            <a:off x="91440" y="423619"/>
            <a:ext cx="4389120" cy="2484098"/>
          </a:xfrm>
          <a:prstGeom prst="rect">
            <a:avLst/>
          </a:prstGeom>
        </p:spPr>
      </p:pic>
    </p:spTree>
    <p:extLst>
      <p:ext uri="{BB962C8B-B14F-4D97-AF65-F5344CB8AC3E}">
        <p14:creationId xmlns:p14="http://schemas.microsoft.com/office/powerpoint/2010/main" val="2638799038"/>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4D371-4169-94EE-7F7D-5F6601AAF7E4}"/>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CBF7F1D5-1CF5-A12E-11C3-62AFBBD69CDD}"/>
              </a:ext>
            </a:extLst>
          </p:cNvPr>
          <p:cNvGrpSpPr/>
          <p:nvPr/>
        </p:nvGrpSpPr>
        <p:grpSpPr>
          <a:xfrm>
            <a:off x="0" y="3287306"/>
            <a:ext cx="4608195" cy="168910"/>
            <a:chOff x="0" y="3287306"/>
            <a:chExt cx="4608195" cy="168910"/>
          </a:xfrm>
        </p:grpSpPr>
        <p:sp>
          <p:nvSpPr>
            <p:cNvPr id="5" name="object 5">
              <a:extLst>
                <a:ext uri="{FF2B5EF4-FFF2-40B4-BE49-F238E27FC236}">
                  <a16:creationId xmlns:a16="http://schemas.microsoft.com/office/drawing/2014/main" id="{2CDD12C0-0F34-7120-DF57-879D390820A4}"/>
                </a:ext>
              </a:extLst>
            </p:cNvPr>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23001228-0E76-292F-38FB-EB343CEA44F3}"/>
                </a:ext>
              </a:extLst>
            </p:cNvPr>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a16="http://schemas.microsoft.com/office/drawing/2014/main" id="{423F2E87-2A16-6169-5E2B-63A4820A7AAB}"/>
                </a:ext>
              </a:extLst>
            </p:cNvPr>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a:extLst>
              <a:ext uri="{FF2B5EF4-FFF2-40B4-BE49-F238E27FC236}">
                <a16:creationId xmlns:a16="http://schemas.microsoft.com/office/drawing/2014/main" id="{C51CF9A1-085A-4B0E-28A2-06130918CE93}"/>
              </a:ext>
            </a:extLst>
          </p:cNvPr>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21DEFE34-088B-542B-B692-3CDC0697716F}"/>
              </a:ext>
            </a:extLst>
          </p:cNvPr>
          <p:cNvSpPr txBox="1">
            <a:spLocks noGrp="1"/>
          </p:cNvSpPr>
          <p:nvPr>
            <p:ph type="ftr" sz="quarter" idx="5"/>
          </p:nvPr>
        </p:nvSpPr>
        <p:spPr>
          <a:xfrm>
            <a:off x="1439678" y="3326877"/>
            <a:ext cx="17286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a:extLst>
              <a:ext uri="{FF2B5EF4-FFF2-40B4-BE49-F238E27FC236}">
                <a16:creationId xmlns:a16="http://schemas.microsoft.com/office/drawing/2014/main" id="{6D1386CC-B821-ED53-CEDF-6F847AF74D64}"/>
              </a:ext>
            </a:extLst>
          </p:cNvPr>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25</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lang="en-US" spc="-15" dirty="0">
                <a:latin typeface="Times New Roman" panose="02020603050405020304" pitchFamily="18" charset="0"/>
                <a:cs typeface="Times New Roman" panose="02020603050405020304" pitchFamily="18" charset="0"/>
              </a:rPr>
              <a:t>29</a:t>
            </a:r>
            <a:endParaRPr spc="-15"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48E3F7B6-15B5-81E1-11D4-D1E0F5AABADD}"/>
              </a:ext>
            </a:extLst>
          </p:cNvPr>
          <p:cNvSpPr txBox="1"/>
          <p:nvPr/>
        </p:nvSpPr>
        <p:spPr>
          <a:xfrm>
            <a:off x="1619250" y="2907717"/>
            <a:ext cx="2438400" cy="261610"/>
          </a:xfrm>
          <a:prstGeom prst="rect">
            <a:avLst/>
          </a:prstGeom>
          <a:noFill/>
        </p:spPr>
        <p:txBody>
          <a:bodyPr wrap="square" rtlCol="0">
            <a:spAutoFit/>
          </a:bodyPr>
          <a:lstStyle/>
          <a:p>
            <a:r>
              <a:rPr lang="en-US" sz="1050" b="1" dirty="0">
                <a:latin typeface="Times New Roman" panose="02020603050405020304" pitchFamily="18" charset="0"/>
                <a:cs typeface="Times New Roman" panose="02020603050405020304" pitchFamily="18" charset="0"/>
              </a:rPr>
              <a:t>Fig 12. Evaluation Leaderboard</a:t>
            </a:r>
          </a:p>
        </p:txBody>
      </p:sp>
      <p:sp>
        <p:nvSpPr>
          <p:cNvPr id="8" name="Rectangle 7">
            <a:extLst>
              <a:ext uri="{FF2B5EF4-FFF2-40B4-BE49-F238E27FC236}">
                <a16:creationId xmlns:a16="http://schemas.microsoft.com/office/drawing/2014/main" id="{B49F44F1-2EE1-D8AB-8054-E86A38A562DB}"/>
              </a:ext>
            </a:extLst>
          </p:cNvPr>
          <p:cNvSpPr/>
          <p:nvPr/>
        </p:nvSpPr>
        <p:spPr>
          <a:xfrm>
            <a:off x="2838450" y="815975"/>
            <a:ext cx="685800" cy="2286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2" name="Picture 11">
            <a:extLst>
              <a:ext uri="{FF2B5EF4-FFF2-40B4-BE49-F238E27FC236}">
                <a16:creationId xmlns:a16="http://schemas.microsoft.com/office/drawing/2014/main" id="{D1A369E4-B540-65A1-35E9-83704112313F}"/>
              </a:ext>
            </a:extLst>
          </p:cNvPr>
          <p:cNvPicPr>
            <a:picLocks noChangeAspect="1"/>
          </p:cNvPicPr>
          <p:nvPr/>
        </p:nvPicPr>
        <p:blipFill>
          <a:blip r:embed="rId2"/>
          <a:stretch>
            <a:fillRect/>
          </a:stretch>
        </p:blipFill>
        <p:spPr>
          <a:xfrm>
            <a:off x="180581" y="484642"/>
            <a:ext cx="4332636" cy="2491466"/>
          </a:xfrm>
          <a:prstGeom prst="rect">
            <a:avLst/>
          </a:prstGeom>
        </p:spPr>
      </p:pic>
      <p:pic>
        <p:nvPicPr>
          <p:cNvPr id="15" name="Picture 14">
            <a:extLst>
              <a:ext uri="{FF2B5EF4-FFF2-40B4-BE49-F238E27FC236}">
                <a16:creationId xmlns:a16="http://schemas.microsoft.com/office/drawing/2014/main" id="{6975AC68-541A-9EB3-DD34-2A66AF0E9052}"/>
              </a:ext>
            </a:extLst>
          </p:cNvPr>
          <p:cNvPicPr>
            <a:picLocks noChangeAspect="1"/>
          </p:cNvPicPr>
          <p:nvPr/>
        </p:nvPicPr>
        <p:blipFill>
          <a:blip r:embed="rId3"/>
          <a:stretch>
            <a:fillRect/>
          </a:stretch>
        </p:blipFill>
        <p:spPr>
          <a:xfrm>
            <a:off x="197751" y="901680"/>
            <a:ext cx="504895" cy="142895"/>
          </a:xfrm>
          <a:prstGeom prst="rect">
            <a:avLst/>
          </a:prstGeom>
        </p:spPr>
      </p:pic>
    </p:spTree>
    <p:extLst>
      <p:ext uri="{BB962C8B-B14F-4D97-AF65-F5344CB8AC3E}">
        <p14:creationId xmlns:p14="http://schemas.microsoft.com/office/powerpoint/2010/main" val="2480910833"/>
      </p:ext>
    </p:extLst>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918844" cy="244475"/>
          </a:xfrm>
          <a:prstGeom prst="rect">
            <a:avLst/>
          </a:prstGeom>
        </p:spPr>
        <p:txBody>
          <a:bodyPr vert="horz" wrap="square" lIns="0" tIns="17145" rIns="0" bIns="0" rtlCol="0">
            <a:spAutoFit/>
          </a:bodyPr>
          <a:lstStyle/>
          <a:p>
            <a:pPr marL="12700">
              <a:lnSpc>
                <a:spcPct val="100000"/>
              </a:lnSpc>
              <a:spcBef>
                <a:spcPts val="135"/>
              </a:spcBef>
            </a:pPr>
            <a:r>
              <a:rPr b="1" spc="-65" dirty="0">
                <a:latin typeface="Arial"/>
                <a:cs typeface="Arial"/>
              </a:rPr>
              <a:t>Conclusion</a:t>
            </a:r>
          </a:p>
        </p:txBody>
      </p:sp>
      <p:grpSp>
        <p:nvGrpSpPr>
          <p:cNvPr id="8" name="object 8"/>
          <p:cNvGrpSpPr/>
          <p:nvPr/>
        </p:nvGrpSpPr>
        <p:grpSpPr>
          <a:xfrm>
            <a:off x="0" y="3287306"/>
            <a:ext cx="4608195" cy="168910"/>
            <a:chOff x="0" y="3287306"/>
            <a:chExt cx="4608195" cy="168910"/>
          </a:xfrm>
        </p:grpSpPr>
        <p:sp>
          <p:nvSpPr>
            <p:cNvPr id="9" name="object 9"/>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p>
          </p:txBody>
        </p:sp>
        <p:sp>
          <p:nvSpPr>
            <p:cNvPr id="10" name="object 10"/>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p>
          </p:txBody>
        </p:sp>
        <p:sp>
          <p:nvSpPr>
            <p:cNvPr id="11" name="object 11"/>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p>
          </p:txBody>
        </p:sp>
      </p:grpSp>
      <p:sp>
        <p:nvSpPr>
          <p:cNvPr id="13" name="object 13"/>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t>11/06/2025</a:t>
            </a:r>
            <a:endParaRPr spc="-10" dirty="0"/>
          </a:p>
        </p:txBody>
      </p:sp>
      <p:sp>
        <p:nvSpPr>
          <p:cNvPr id="14" name="object 14"/>
          <p:cNvSpPr txBox="1">
            <a:spLocks noGrp="1"/>
          </p:cNvSpPr>
          <p:nvPr>
            <p:ph type="ftr" sz="quarter" idx="5"/>
          </p:nvPr>
        </p:nvSpPr>
        <p:spPr>
          <a:xfrm>
            <a:off x="1449912" y="3316955"/>
            <a:ext cx="1804859" cy="89768"/>
          </a:xfrm>
          <a:prstGeom prst="rect">
            <a:avLst/>
          </a:prstGeom>
        </p:spPr>
        <p:txBody>
          <a:bodyPr vert="horz" wrap="square" lIns="0" tIns="0" rIns="0" bIns="0" rtlCol="0">
            <a:spAutoFit/>
          </a:bodyPr>
          <a:lstStyle/>
          <a:p>
            <a:pPr marL="12700">
              <a:lnSpc>
                <a:spcPts val="675"/>
              </a:lnSpc>
            </a:pPr>
            <a:r>
              <a:rPr lang="en-US" dirty="0"/>
              <a:t>YojanaBench: Scheme Document Reasoning</a:t>
            </a:r>
            <a:endParaRPr spc="-15" dirty="0"/>
          </a:p>
        </p:txBody>
      </p:sp>
      <p:sp>
        <p:nvSpPr>
          <p:cNvPr id="15" name="object 15"/>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t>26</a:t>
            </a:fld>
            <a:r>
              <a:rPr spc="-10" dirty="0"/>
              <a:t> </a:t>
            </a:r>
            <a:r>
              <a:rPr spc="85" dirty="0"/>
              <a:t>/</a:t>
            </a:r>
            <a:r>
              <a:rPr spc="-5" dirty="0"/>
              <a:t> </a:t>
            </a:r>
            <a:r>
              <a:rPr lang="en-US" spc="-15" dirty="0"/>
              <a:t>29</a:t>
            </a:r>
            <a:endParaRPr spc="-15" dirty="0"/>
          </a:p>
        </p:txBody>
      </p:sp>
      <p:sp>
        <p:nvSpPr>
          <p:cNvPr id="18" name="TextBox 17">
            <a:extLst>
              <a:ext uri="{FF2B5EF4-FFF2-40B4-BE49-F238E27FC236}">
                <a16:creationId xmlns:a16="http://schemas.microsoft.com/office/drawing/2014/main" id="{8F65F668-6CB2-C65F-2F3F-38B901F93C28}"/>
              </a:ext>
            </a:extLst>
          </p:cNvPr>
          <p:cNvSpPr txBox="1"/>
          <p:nvPr/>
        </p:nvSpPr>
        <p:spPr>
          <a:xfrm>
            <a:off x="217017" y="622379"/>
            <a:ext cx="3962400" cy="1107996"/>
          </a:xfrm>
          <a:prstGeom prst="rect">
            <a:avLst/>
          </a:prstGeom>
          <a:noFill/>
        </p:spPr>
        <p:txBody>
          <a:bodyPr wrap="square" rtlCol="0">
            <a:spAutoFit/>
          </a:bodyPr>
          <a:lstStyle/>
          <a:p>
            <a:pPr algn="just"/>
            <a:r>
              <a:rPr lang="en-US" sz="1100" dirty="0">
                <a:latin typeface="Times New Roman" panose="02020603050405020304" pitchFamily="18" charset="0"/>
                <a:ea typeface="Tahoma" panose="020B0604030504040204" pitchFamily="34" charset="0"/>
                <a:cs typeface="Times New Roman" panose="02020603050405020304" pitchFamily="18" charset="0"/>
              </a:rPr>
              <a:t>In conclusion, YojanaBench provides the first benchmark for reasoning over Indian welfare-scheme guideline documents, with human-verified QA pairs, counterfactual edge cases and verdict ground truth, together with a reproducible multi-agent audit pipeline. Scored with EM, F1, verdict accuracy and ablation studies on LangGraph and Ollama at zero API cost, the project delivers both a measuring instrument and a working system for trustworthy welfare-document AI.</a:t>
            </a:r>
            <a:endParaRPr lang="en-IN" sz="1100" dirty="0">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919480" cy="244475"/>
          </a:xfrm>
          <a:prstGeom prst="rect">
            <a:avLst/>
          </a:prstGeom>
        </p:spPr>
        <p:txBody>
          <a:bodyPr vert="horz" wrap="square" lIns="0" tIns="17145" rIns="0" bIns="0" rtlCol="0">
            <a:spAutoFit/>
          </a:bodyPr>
          <a:lstStyle/>
          <a:p>
            <a:pPr marL="12700">
              <a:lnSpc>
                <a:spcPct val="100000"/>
              </a:lnSpc>
              <a:spcBef>
                <a:spcPts val="135"/>
              </a:spcBef>
            </a:pPr>
            <a:r>
              <a:rPr spc="-65" dirty="0"/>
              <a:t>References</a:t>
            </a:r>
            <a:r>
              <a:rPr spc="-35" dirty="0"/>
              <a:t> </a:t>
            </a:r>
            <a:r>
              <a:rPr spc="-145" dirty="0"/>
              <a:t>I</a:t>
            </a:r>
          </a:p>
        </p:txBody>
      </p:sp>
      <p:grpSp>
        <p:nvGrpSpPr>
          <p:cNvPr id="4" name="object 4"/>
          <p:cNvGrpSpPr/>
          <p:nvPr/>
        </p:nvGrpSpPr>
        <p:grpSpPr>
          <a:xfrm>
            <a:off x="0" y="3287306"/>
            <a:ext cx="4608195" cy="168910"/>
            <a:chOff x="0" y="3287306"/>
            <a:chExt cx="4608195" cy="168910"/>
          </a:xfrm>
        </p:grpSpPr>
        <p:sp>
          <p:nvSpPr>
            <p:cNvPr id="5" name="object 5"/>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p>
          </p:txBody>
        </p:sp>
      </p:grpSp>
      <p:sp>
        <p:nvSpPr>
          <p:cNvPr id="9" name="object 9"/>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t>11/06/2025</a:t>
            </a:r>
            <a:endParaRPr spc="-10" dirty="0"/>
          </a:p>
        </p:txBody>
      </p:sp>
      <p:sp>
        <p:nvSpPr>
          <p:cNvPr id="10" name="object 10"/>
          <p:cNvSpPr txBox="1">
            <a:spLocks noGrp="1"/>
          </p:cNvSpPr>
          <p:nvPr>
            <p:ph type="ftr" sz="quarter" idx="5"/>
          </p:nvPr>
        </p:nvSpPr>
        <p:spPr>
          <a:xfrm>
            <a:off x="1443005" y="3314164"/>
            <a:ext cx="1728659" cy="89768"/>
          </a:xfrm>
          <a:prstGeom prst="rect">
            <a:avLst/>
          </a:prstGeom>
        </p:spPr>
        <p:txBody>
          <a:bodyPr vert="horz" wrap="square" lIns="0" tIns="0" rIns="0" bIns="0" rtlCol="0">
            <a:spAutoFit/>
          </a:bodyPr>
          <a:lstStyle/>
          <a:p>
            <a:pPr marL="12700">
              <a:lnSpc>
                <a:spcPts val="675"/>
              </a:lnSpc>
            </a:pPr>
            <a:r>
              <a:rPr lang="en-US" dirty="0"/>
              <a:t>YojanaBench: Scheme Document Reasoning</a:t>
            </a:r>
            <a:endParaRPr spc="-15" dirty="0"/>
          </a:p>
        </p:txBody>
      </p:sp>
      <p:sp>
        <p:nvSpPr>
          <p:cNvPr id="11" name="object 11"/>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t>27</a:t>
            </a:fld>
            <a:r>
              <a:rPr spc="-10" dirty="0"/>
              <a:t> </a:t>
            </a:r>
            <a:r>
              <a:rPr spc="85" dirty="0"/>
              <a:t>/</a:t>
            </a:r>
            <a:r>
              <a:rPr spc="-5" dirty="0"/>
              <a:t> </a:t>
            </a:r>
            <a:r>
              <a:rPr lang="en-US" spc="-15" dirty="0"/>
              <a:t>29</a:t>
            </a:r>
            <a:endParaRPr spc="-15" dirty="0"/>
          </a:p>
        </p:txBody>
      </p:sp>
      <p:sp>
        <p:nvSpPr>
          <p:cNvPr id="15" name="TextBox 14">
            <a:extLst>
              <a:ext uri="{FF2B5EF4-FFF2-40B4-BE49-F238E27FC236}">
                <a16:creationId xmlns:a16="http://schemas.microsoft.com/office/drawing/2014/main" id="{0D5478B1-7541-5424-7244-FA50463E1100}"/>
              </a:ext>
            </a:extLst>
          </p:cNvPr>
          <p:cNvSpPr txBox="1"/>
          <p:nvPr/>
        </p:nvSpPr>
        <p:spPr>
          <a:xfrm>
            <a:off x="39356" y="457663"/>
            <a:ext cx="4496228" cy="2631490"/>
          </a:xfrm>
          <a:prstGeom prst="rect">
            <a:avLst/>
          </a:prstGeom>
          <a:noFill/>
        </p:spPr>
        <p:txBody>
          <a:bodyPr wrap="square" rtlCol="0">
            <a:spAutoFit/>
          </a:bodyPr>
          <a:lstStyle/>
          <a:p>
            <a:pPr marL="228600" indent="-228600" algn="just">
              <a:buAutoNum type="arabicPeriod"/>
            </a:pPr>
            <a:r>
              <a:rPr lang="en-IN" sz="1100" dirty="0">
                <a:latin typeface="Times New Roman" panose="02020603050405020304" pitchFamily="18" charset="0"/>
                <a:ea typeface="Tahoma" panose="020B0604030504040204" pitchFamily="34" charset="0"/>
                <a:cs typeface="Times New Roman" panose="02020603050405020304" pitchFamily="18" charset="0"/>
              </a:rPr>
              <a:t>G. Mialon, C. Fourrier, C. Swift, T. Wolf, Y. LeCun and T. Scialom, “GAIA: A Benchmark for General AI Assistants,” arXiv preprint arXiv:2311.12983, 2023.</a:t>
            </a:r>
          </a:p>
          <a:p>
            <a:pPr marL="228600" indent="-228600" algn="just">
              <a:buAutoNum type="arabicPeriod"/>
            </a:pPr>
            <a:r>
              <a:rPr lang="en-US" sz="1100" dirty="0" err="1">
                <a:latin typeface="Times New Roman" panose="02020603050405020304" pitchFamily="18" charset="0"/>
                <a:ea typeface="Tahoma" panose="020B0604030504040204" pitchFamily="34" charset="0"/>
                <a:cs typeface="Times New Roman" panose="02020603050405020304" pitchFamily="18" charset="0"/>
              </a:rPr>
              <a:t>Z. Fei, X. Shen, D. Zhu, F. Zhou, Z. Han et al., “LawBench: Benchmarking Legal Knowledge of Large Language Models,” in Proc. EMNLP, pp. 7933-7962, 2024.</a:t>
            </a:r>
            <a:endParaRPr lang="en-US" sz="1100" dirty="0">
              <a:latin typeface="Times New Roman" panose="02020603050405020304" pitchFamily="18" charset="0"/>
              <a:ea typeface="Tahoma" panose="020B0604030504040204" pitchFamily="34" charset="0"/>
              <a:cs typeface="Times New Roman" panose="02020603050405020304" pitchFamily="18" charset="0"/>
            </a:endParaRPr>
          </a:p>
          <a:p>
            <a:pPr marL="228600" indent="-228600" algn="just">
              <a:buAutoNum type="arabicPeriod"/>
            </a:pPr>
            <a:r>
              <a:rPr lang="en-IN" sz="1100" dirty="0">
                <a:latin typeface="Times New Roman" panose="02020603050405020304" pitchFamily="18" charset="0"/>
                <a:ea typeface="Tahoma" panose="020B0604030504040204" pitchFamily="34" charset="0"/>
                <a:cs typeface="Times New Roman" panose="02020603050405020304" pitchFamily="18" charset="0"/>
              </a:rPr>
              <a:t>M. Mathew, D. Karatzas and C. V. Jawahar, “DocVQA: A Dataset for VQA on Document Images,” in Proc. WACV, pp. 2200-2209, 2021.</a:t>
            </a:r>
          </a:p>
          <a:p>
            <a:pPr algn="just"/>
            <a:endParaRPr lang="en-IN" sz="1100" dirty="0">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973455" cy="232756"/>
          </a:xfrm>
          <a:prstGeom prst="rect">
            <a:avLst/>
          </a:prstGeom>
        </p:spPr>
        <p:txBody>
          <a:bodyPr vert="horz" wrap="square" lIns="0" tIns="17145" rIns="0" bIns="0" rtlCol="0">
            <a:spAutoFit/>
          </a:bodyPr>
          <a:lstStyle/>
          <a:p>
            <a:pPr marL="12700">
              <a:lnSpc>
                <a:spcPct val="100000"/>
              </a:lnSpc>
              <a:spcBef>
                <a:spcPts val="135"/>
              </a:spcBef>
            </a:pPr>
            <a:r>
              <a:rPr spc="-65" dirty="0">
                <a:latin typeface="Times New Roman" panose="02020603050405020304" pitchFamily="18" charset="0"/>
                <a:cs typeface="Times New Roman" panose="02020603050405020304" pitchFamily="18" charset="0"/>
              </a:rPr>
              <a:t>References</a:t>
            </a:r>
            <a:r>
              <a:rPr spc="-35" dirty="0">
                <a:latin typeface="Times New Roman" panose="02020603050405020304" pitchFamily="18" charset="0"/>
                <a:cs typeface="Times New Roman" panose="02020603050405020304" pitchFamily="18" charset="0"/>
              </a:rPr>
              <a:t> </a:t>
            </a:r>
            <a:r>
              <a:rPr spc="-125" dirty="0">
                <a:latin typeface="Times New Roman" panose="02020603050405020304" pitchFamily="18" charset="0"/>
                <a:cs typeface="Times New Roman" panose="02020603050405020304" pitchFamily="18" charset="0"/>
              </a:rPr>
              <a:t>II</a:t>
            </a:r>
          </a:p>
        </p:txBody>
      </p:sp>
      <p:grpSp>
        <p:nvGrpSpPr>
          <p:cNvPr id="4" name="object 4"/>
          <p:cNvGrpSpPr/>
          <p:nvPr/>
        </p:nvGrpSpPr>
        <p:grpSpPr>
          <a:xfrm>
            <a:off x="0" y="3300368"/>
            <a:ext cx="4608195" cy="168910"/>
            <a:chOff x="0" y="3287306"/>
            <a:chExt cx="4608195" cy="168910"/>
          </a:xfrm>
        </p:grpSpPr>
        <p:sp>
          <p:nvSpPr>
            <p:cNvPr id="5" name="object 5"/>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 name="object 6"/>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7" name="object 7"/>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9" name="object 9"/>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latin typeface="Times New Roman" panose="02020603050405020304" pitchFamily="18" charset="0"/>
                <a:cs typeface="Times New Roman" panose="02020603050405020304" pitchFamily="18" charset="0"/>
              </a:rPr>
              <a:t>11/06/2025</a:t>
            </a:r>
            <a:endParaRPr spc="-10"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5"/>
          </p:nvPr>
        </p:nvSpPr>
        <p:spPr>
          <a:xfrm>
            <a:off x="1449912" y="3326877"/>
            <a:ext cx="1804859" cy="89768"/>
          </a:xfrm>
          <a:prstGeom prst="rect">
            <a:avLst/>
          </a:prstGeom>
        </p:spPr>
        <p:txBody>
          <a:bodyPr vert="horz" wrap="square" lIns="0" tIns="0" rIns="0" bIns="0" rtlCol="0">
            <a:spAutoFit/>
          </a:bodyPr>
          <a:lstStyle/>
          <a:p>
            <a:pPr marL="12700">
              <a:lnSpc>
                <a:spcPts val="675"/>
              </a:lnSpc>
            </a:pPr>
            <a:r>
              <a:rPr lang="en-US" dirty="0">
                <a:latin typeface="Times New Roman" panose="02020603050405020304" pitchFamily="18" charset="0"/>
                <a:cs typeface="Times New Roman" panose="02020603050405020304" pitchFamily="18" charset="0"/>
              </a:rPr>
              <a:t>YojanaBench: Scheme Document Reasoning</a:t>
            </a:r>
            <a:endParaRPr spc="-15" dirty="0">
              <a:latin typeface="Times New Roman" panose="02020603050405020304" pitchFamily="18" charset="0"/>
              <a:cs typeface="Times New Roman" panose="02020603050405020304" pitchFamily="18" charset="0"/>
            </a:endParaRPr>
          </a:p>
        </p:txBody>
      </p:sp>
      <p:sp>
        <p:nvSpPr>
          <p:cNvPr id="11" name="object 11"/>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latin typeface="Times New Roman" panose="02020603050405020304" pitchFamily="18" charset="0"/>
                <a:cs typeface="Times New Roman" panose="02020603050405020304" pitchFamily="18" charset="0"/>
              </a:rPr>
              <a:t>28</a:t>
            </a:fld>
            <a:r>
              <a:rPr spc="-10" dirty="0">
                <a:latin typeface="Times New Roman" panose="02020603050405020304" pitchFamily="18" charset="0"/>
                <a:cs typeface="Times New Roman" panose="02020603050405020304" pitchFamily="18" charset="0"/>
              </a:rPr>
              <a:t> </a:t>
            </a:r>
            <a:r>
              <a:rPr spc="85" dirty="0">
                <a:latin typeface="Times New Roman" panose="02020603050405020304" pitchFamily="18" charset="0"/>
                <a:cs typeface="Times New Roman" panose="02020603050405020304" pitchFamily="18" charset="0"/>
              </a:rPr>
              <a:t>/</a:t>
            </a:r>
            <a:r>
              <a:rPr spc="-5" dirty="0">
                <a:latin typeface="Times New Roman" panose="02020603050405020304" pitchFamily="18" charset="0"/>
                <a:cs typeface="Times New Roman" panose="02020603050405020304" pitchFamily="18" charset="0"/>
              </a:rPr>
              <a:t> </a:t>
            </a:r>
            <a:r>
              <a:rPr spc="-15" dirty="0">
                <a:latin typeface="Times New Roman" panose="02020603050405020304" pitchFamily="18" charset="0"/>
                <a:cs typeface="Times New Roman" panose="02020603050405020304" pitchFamily="18" charset="0"/>
              </a:rPr>
              <a:t>2</a:t>
            </a:r>
            <a:r>
              <a:rPr lang="en-US" spc="-15" dirty="0">
                <a:latin typeface="Times New Roman" panose="02020603050405020304" pitchFamily="18" charset="0"/>
                <a:cs typeface="Times New Roman" panose="02020603050405020304" pitchFamily="18" charset="0"/>
              </a:rPr>
              <a:t>9</a:t>
            </a:r>
            <a:endParaRPr spc="-15"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B0B59FB8-3D5D-A290-4000-DECF9EF16C7D}"/>
              </a:ext>
            </a:extLst>
          </p:cNvPr>
          <p:cNvSpPr txBox="1"/>
          <p:nvPr/>
        </p:nvSpPr>
        <p:spPr>
          <a:xfrm>
            <a:off x="95300" y="564723"/>
            <a:ext cx="4191000" cy="2292935"/>
          </a:xfrm>
          <a:prstGeom prst="rect">
            <a:avLst/>
          </a:prstGeom>
          <a:noFill/>
        </p:spPr>
        <p:txBody>
          <a:bodyPr wrap="square" rtlCol="0">
            <a:spAutoFit/>
          </a:bodyPr>
          <a:lstStyle/>
          <a:p>
            <a:pPr marL="228600" indent="-228600" algn="just">
              <a:buAutoNum type="arabicPeriod" startAt="4"/>
            </a:pPr>
            <a:r>
              <a:rPr lang="en-US" sz="1100" dirty="0">
                <a:latin typeface="Times New Roman" panose="02020603050405020304" pitchFamily="18" charset="0"/>
                <a:ea typeface="Tahoma" panose="020B0604030504040204" pitchFamily="34" charset="0"/>
                <a:cs typeface="Times New Roman" panose="02020603050405020304" pitchFamily="18" charset="0"/>
              </a:rPr>
              <a:t>Y. Gao, Y. Xiong, X. Gao, K. Jia, J. Pan et al., “Retrieval-Augmented Generation for Large Language Models: A Survey,” arXiv preprint arXiv:2312.10997, 2023.</a:t>
            </a:r>
          </a:p>
          <a:p>
            <a:pPr marL="228600" indent="-228600" algn="just">
              <a:buAutoNum type="arabicPeriod" startAt="4"/>
            </a:pPr>
            <a:r>
              <a:rPr lang="en-US" sz="1100" dirty="0">
                <a:latin typeface="Times New Roman" panose="02020603050405020304" pitchFamily="18" charset="0"/>
                <a:ea typeface="Tahoma" panose="020B0604030504040204" pitchFamily="34" charset="0"/>
                <a:cs typeface="Times New Roman" panose="02020603050405020304" pitchFamily="18" charset="0"/>
              </a:rPr>
              <a:t>T. Guo, X. Chen, Y. Wang, R. Chang, S. Pei et al., “Large Language Model based Multi-Agents: A Survey of Progress and Challenges,” in Proc. IJCAI, 2024.</a:t>
            </a:r>
          </a:p>
          <a:p>
            <a:pPr marL="228600" indent="-228600" algn="just">
              <a:buAutoNum type="arabicPeriod" startAt="4"/>
            </a:pPr>
            <a:r>
              <a:rPr lang="en-IN" sz="1100" dirty="0">
                <a:latin typeface="Times New Roman" panose="02020603050405020304" pitchFamily="18" charset="0"/>
                <a:ea typeface="Tahoma" panose="020B0604030504040204" pitchFamily="34" charset="0"/>
                <a:cs typeface="Times New Roman" panose="02020603050405020304" pitchFamily="18" charset="0"/>
              </a:rPr>
              <a:t>V. Vaishnav and G. O. Nathan, “Need of Retrieval Augmented Generation for Conversational Assistants for Government Social Welfare Scheme Popularization,” Int. J. Science and Research Archive, vol. 13, no. 1, pp. 1299-1312, 2024.</a:t>
            </a:r>
            <a:endParaRPr lang="en-US" sz="1100" dirty="0">
              <a:latin typeface="Times New Roman" panose="02020603050405020304" pitchFamily="18" charset="0"/>
              <a:ea typeface="Tahoma" panose="020B0604030504040204" pitchFamily="34" charset="0"/>
              <a:cs typeface="Times New Roman" panose="02020603050405020304" pitchFamily="18" charset="0"/>
            </a:endParaRPr>
          </a:p>
          <a:p>
            <a:pPr marL="228600" indent="-228600" algn="just">
              <a:buAutoNum type="arabicPeriod" startAt="4"/>
            </a:pPr>
            <a:r>
              <a:rPr lang="en-IN" sz="1100" dirty="0">
                <a:latin typeface="Times New Roman" panose="02020603050405020304" pitchFamily="18" charset="0"/>
                <a:ea typeface="Tahoma" panose="020B0604030504040204" pitchFamily="34" charset="0"/>
                <a:cs typeface="Times New Roman" panose="02020603050405020304" pitchFamily="18" charset="0"/>
              </a:rPr>
              <a:t>C. R. Chaitra, P. Voora, B. R. Bikkina et al., “First Impressions from Comparing Form-Based and Conversational Interfaces for Public Service Access in India,” in Proc. ACL HCI-NLP, 2025.</a:t>
            </a:r>
            <a:endParaRPr lang="en-US" sz="1100" dirty="0">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a:hlinkClick r:id="rId2"/>
          </p:cNvPr>
          <p:cNvPicPr/>
          <p:nvPr/>
        </p:nvPicPr>
        <p:blipFill>
          <a:blip r:embed="rId3" cstate="print"/>
          <a:stretch>
            <a:fillRect/>
          </a:stretch>
        </p:blipFill>
        <p:spPr>
          <a:xfrm>
            <a:off x="1583947" y="717266"/>
            <a:ext cx="2063557" cy="1367473"/>
          </a:xfrm>
          <a:prstGeom prst="rect">
            <a:avLst/>
          </a:prstGeom>
        </p:spPr>
      </p:pic>
      <p:grpSp>
        <p:nvGrpSpPr>
          <p:cNvPr id="3" name="object 3"/>
          <p:cNvGrpSpPr/>
          <p:nvPr/>
        </p:nvGrpSpPr>
        <p:grpSpPr>
          <a:xfrm>
            <a:off x="-16538" y="3285109"/>
            <a:ext cx="4608195" cy="168910"/>
            <a:chOff x="0" y="3287306"/>
            <a:chExt cx="4608195" cy="168910"/>
          </a:xfrm>
        </p:grpSpPr>
        <p:sp>
          <p:nvSpPr>
            <p:cNvPr id="4" name="object 4"/>
            <p:cNvSpPr/>
            <p:nvPr/>
          </p:nvSpPr>
          <p:spPr>
            <a:xfrm>
              <a:off x="0" y="3287306"/>
              <a:ext cx="1536065" cy="168910"/>
            </a:xfrm>
            <a:custGeom>
              <a:avLst/>
              <a:gdLst/>
              <a:ahLst/>
              <a:cxnLst/>
              <a:rect l="l" t="t" r="r" b="b"/>
              <a:pathLst>
                <a:path w="1536065" h="168910">
                  <a:moveTo>
                    <a:pt x="1535976" y="0"/>
                  </a:moveTo>
                  <a:lnTo>
                    <a:pt x="0" y="0"/>
                  </a:lnTo>
                  <a:lnTo>
                    <a:pt x="0" y="168694"/>
                  </a:lnTo>
                  <a:lnTo>
                    <a:pt x="1535976" y="168694"/>
                  </a:lnTo>
                  <a:lnTo>
                    <a:pt x="1535976" y="0"/>
                  </a:lnTo>
                  <a:close/>
                </a:path>
              </a:pathLst>
            </a:custGeom>
            <a:solidFill>
              <a:srgbClr val="191959"/>
            </a:solidFill>
          </p:spPr>
          <p:txBody>
            <a:bodyPr wrap="square" lIns="0" tIns="0" rIns="0" bIns="0" rtlCol="0"/>
            <a:lstStyle/>
            <a:p>
              <a:endParaRPr/>
            </a:p>
          </p:txBody>
        </p:sp>
        <p:sp>
          <p:nvSpPr>
            <p:cNvPr id="5" name="object 5"/>
            <p:cNvSpPr/>
            <p:nvPr/>
          </p:nvSpPr>
          <p:spPr>
            <a:xfrm>
              <a:off x="1535976"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262685"/>
            </a:solidFill>
          </p:spPr>
          <p:txBody>
            <a:bodyPr wrap="square" lIns="0" tIns="0" rIns="0" bIns="0" rtlCol="0"/>
            <a:lstStyle/>
            <a:p>
              <a:endParaRPr/>
            </a:p>
          </p:txBody>
        </p:sp>
        <p:sp>
          <p:nvSpPr>
            <p:cNvPr id="6" name="object 6"/>
            <p:cNvSpPr/>
            <p:nvPr/>
          </p:nvSpPr>
          <p:spPr>
            <a:xfrm>
              <a:off x="3071952" y="3287306"/>
              <a:ext cx="1536065" cy="168910"/>
            </a:xfrm>
            <a:custGeom>
              <a:avLst/>
              <a:gdLst/>
              <a:ahLst/>
              <a:cxnLst/>
              <a:rect l="l" t="t" r="r" b="b"/>
              <a:pathLst>
                <a:path w="1536064" h="168910">
                  <a:moveTo>
                    <a:pt x="1535976" y="0"/>
                  </a:moveTo>
                  <a:lnTo>
                    <a:pt x="0" y="0"/>
                  </a:lnTo>
                  <a:lnTo>
                    <a:pt x="0" y="168694"/>
                  </a:lnTo>
                  <a:lnTo>
                    <a:pt x="1535976" y="168694"/>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dt" sz="half" idx="6"/>
          </p:nvPr>
        </p:nvSpPr>
        <p:spPr>
          <a:xfrm>
            <a:off x="180581" y="3351784"/>
            <a:ext cx="1174750" cy="89768"/>
          </a:xfrm>
          <a:prstGeom prst="rect">
            <a:avLst/>
          </a:prstGeom>
        </p:spPr>
        <p:txBody>
          <a:bodyPr vert="horz" wrap="square" lIns="0" tIns="0" rIns="0" bIns="0" rtlCol="0">
            <a:spAutoFit/>
          </a:bodyPr>
          <a:lstStyle/>
          <a:p>
            <a:pPr marL="12700">
              <a:lnSpc>
                <a:spcPts val="675"/>
              </a:lnSpc>
            </a:pPr>
            <a:r>
              <a:rPr lang="en-US" spc="-10" dirty="0"/>
              <a:t>11/06/2025</a:t>
            </a:r>
            <a:endParaRPr spc="-10" dirty="0"/>
          </a:p>
        </p:txBody>
      </p:sp>
      <p:sp>
        <p:nvSpPr>
          <p:cNvPr id="9" name="object 9"/>
          <p:cNvSpPr txBox="1">
            <a:spLocks noGrp="1"/>
          </p:cNvSpPr>
          <p:nvPr>
            <p:ph type="ftr" sz="quarter" idx="5"/>
          </p:nvPr>
        </p:nvSpPr>
        <p:spPr>
          <a:xfrm>
            <a:off x="1445450" y="3324680"/>
            <a:ext cx="2033459" cy="89768"/>
          </a:xfrm>
          <a:prstGeom prst="rect">
            <a:avLst/>
          </a:prstGeom>
        </p:spPr>
        <p:txBody>
          <a:bodyPr vert="horz" wrap="square" lIns="0" tIns="0" rIns="0" bIns="0" rtlCol="0">
            <a:spAutoFit/>
          </a:bodyPr>
          <a:lstStyle/>
          <a:p>
            <a:pPr marL="12700">
              <a:lnSpc>
                <a:spcPts val="675"/>
              </a:lnSpc>
            </a:pPr>
            <a:r>
              <a:rPr lang="en-US" dirty="0"/>
              <a:t>YojanaBench: Scheme Document Reasoning</a:t>
            </a:r>
            <a:endParaRPr spc="-15" dirty="0"/>
          </a:p>
        </p:txBody>
      </p:sp>
      <p:sp>
        <p:nvSpPr>
          <p:cNvPr id="10" name="object 10"/>
          <p:cNvSpPr txBox="1">
            <a:spLocks noGrp="1"/>
          </p:cNvSpPr>
          <p:nvPr>
            <p:ph type="sldNum" sz="quarter" idx="7"/>
          </p:nvPr>
        </p:nvSpPr>
        <p:spPr>
          <a:xfrm>
            <a:off x="4246853" y="3351784"/>
            <a:ext cx="344804" cy="89768"/>
          </a:xfrm>
          <a:prstGeom prst="rect">
            <a:avLst/>
          </a:prstGeom>
        </p:spPr>
        <p:txBody>
          <a:bodyPr vert="horz" wrap="square" lIns="0" tIns="0" rIns="0" bIns="0" rtlCol="0">
            <a:spAutoFit/>
          </a:bodyPr>
          <a:lstStyle/>
          <a:p>
            <a:pPr marL="38100">
              <a:lnSpc>
                <a:spcPts val="675"/>
              </a:lnSpc>
            </a:pPr>
            <a:fld id="{81D60167-4931-47E6-BA6A-407CBD079E47}" type="slidenum">
              <a:rPr spc="-15" dirty="0"/>
              <a:t>29</a:t>
            </a:fld>
            <a:r>
              <a:rPr spc="-10" dirty="0"/>
              <a:t> </a:t>
            </a:r>
            <a:r>
              <a:rPr spc="85" dirty="0"/>
              <a:t>/</a:t>
            </a:r>
            <a:r>
              <a:rPr spc="-5" dirty="0"/>
              <a:t> </a:t>
            </a:r>
            <a:r>
              <a:rPr spc="-15" dirty="0"/>
              <a:t>2</a:t>
            </a:r>
            <a:r>
              <a:rPr lang="en-US" spc="-15" dirty="0"/>
              <a:t>9</a:t>
            </a:r>
            <a:endParaRPr spc="-15"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2310</Words>
  <Application>Microsoft Office PowerPoint</Application>
  <PresentationFormat>Custom</PresentationFormat>
  <Paragraphs>230</Paragraphs>
  <Slides>29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Tahoma</vt:lpstr>
      <vt:lpstr>Times New Roman</vt:lpstr>
      <vt:lpstr>Office Theme</vt:lpstr>
      <vt:lpstr>    YojanaBench: Welfare-Scheme Document Reasoning</vt:lpstr>
      <vt:lpstr>Outline</vt:lpstr>
      <vt:lpstr>PowerPoint Presentation</vt:lpstr>
      <vt:lpstr>PowerPoint Presentation</vt:lpstr>
      <vt:lpstr>The project aims to: Curate guideline PDFs of 10 to 15 high-volume Indian welfare schemes. Build human-verified QA pairs on eligibility, entitlement, documents and appeals. Create counterfactual and edge-case scenarios with verdict ground truth. Implement an eight-agent audit pipeline using LangGraph and Ollama LLMs. Score answers with EM, F1, verdict accuracy and entitlement error. Run baselines and ablation studies to measure each agent contribution. Release the benchmark, dashboard and demo scenarios with the report.</vt:lpstr>
      <vt:lpstr>Need</vt:lpstr>
      <vt:lpstr>Motivation</vt:lpstr>
      <vt:lpstr>PowerPoint Presentation</vt:lpstr>
      <vt:lpstr>Architectural Diagram</vt:lpstr>
      <vt:lpstr>Mathematical Model [1/1]</vt:lpstr>
      <vt:lpstr>Algorithmic Approach[1/4]</vt:lpstr>
      <vt:lpstr>Algorithmic Approach[2/4]</vt:lpstr>
      <vt:lpstr>Algorithmic Approach[3/4]</vt:lpstr>
      <vt:lpstr>Algorithmic Approach[4/4]</vt:lpstr>
      <vt:lpstr>End-to-End Workflow</vt:lpstr>
      <vt:lpstr>Datasets Used   </vt:lpstr>
      <vt:lpstr>Environmental Setup </vt:lpstr>
      <vt:lpstr>Result</vt:lpstr>
      <vt:lpstr>PowerPoint Presentation</vt:lpstr>
      <vt:lpstr>PowerPoint Presentation</vt:lpstr>
      <vt:lpstr>PowerPoint Presentation</vt:lpstr>
      <vt:lpstr> Result Test cases  </vt:lpstr>
      <vt:lpstr>PowerPoint Presentation</vt:lpstr>
      <vt:lpstr>PowerPoint Presentation</vt:lpstr>
      <vt:lpstr>PowerPoint Presentation</vt:lpstr>
      <vt:lpstr>Conclusion</vt:lpstr>
      <vt:lpstr>References I</vt:lpstr>
      <vt:lpstr>References II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Soham Cloud</dc:creator>
  <cp:lastModifiedBy>arn.patel76@outlook.com</cp:lastModifiedBy>
  <cp:revision>4</cp:revision>
  <dcterms:modified xsi:type="dcterms:W3CDTF">2026-10-08T02:22:25Z</dcterms:modified>
</cp:coreProperties>
</file>